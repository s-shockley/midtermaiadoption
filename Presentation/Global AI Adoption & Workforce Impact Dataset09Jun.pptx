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5" r:id="rId5"/>
    <p:sldId id="266" r:id="rId6"/>
    <p:sldId id="264"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8FA"/>
    <a:srgbClr val="FFFFFF"/>
    <a:srgbClr val="464C58"/>
    <a:srgbClr val="838C9D"/>
    <a:srgbClr val="626B7C"/>
    <a:srgbClr val="111111"/>
    <a:srgbClr val="DEDEDE"/>
    <a:srgbClr val="F3F3F3"/>
    <a:srgbClr val="E6E6E6"/>
    <a:srgbClr val="E97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5" autoAdjust="0"/>
    <p:restoredTop sz="94552" autoAdjust="0"/>
  </p:normalViewPr>
  <p:slideViewPr>
    <p:cSldViewPr snapToGrid="0">
      <p:cViewPr>
        <p:scale>
          <a:sx n="110" d="100"/>
          <a:sy n="110" d="100"/>
        </p:scale>
        <p:origin x="58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27E61C-FD4C-4866-BA3D-CB159576111D}" type="doc">
      <dgm:prSet loTypeId="urn:microsoft.com/office/officeart/2008/layout/SquareAccentList" loCatId="list" qsTypeId="urn:microsoft.com/office/officeart/2005/8/quickstyle/simple1" qsCatId="simple" csTypeId="urn:microsoft.com/office/officeart/2005/8/colors/accent2_2" csCatId="accent2" phldr="1"/>
      <dgm:spPr/>
      <dgm:t>
        <a:bodyPr/>
        <a:lstStyle/>
        <a:p>
          <a:endParaRPr lang="en-US"/>
        </a:p>
      </dgm:t>
    </dgm:pt>
    <dgm:pt modelId="{9C41E2D0-4C56-49D6-92B8-60893AA91F2A}">
      <dgm:prSet phldrT="[Text]" phldr="0" custT="1"/>
      <dgm:spPr/>
      <dgm:t>
        <a:bodyPr/>
        <a:lstStyle/>
        <a:p>
          <a:r>
            <a:rPr lang="en-US" sz="2000" dirty="0"/>
            <a:t>Scale Beyond Pilot Implementation</a:t>
          </a:r>
        </a:p>
      </dgm:t>
    </dgm:pt>
    <dgm:pt modelId="{0EE6A6E4-00E0-4870-948E-B348E3F35D0A}" type="parTrans" cxnId="{E18CD88C-450F-42B5-8E21-6D009A14B447}">
      <dgm:prSet/>
      <dgm:spPr/>
      <dgm:t>
        <a:bodyPr/>
        <a:lstStyle/>
        <a:p>
          <a:endParaRPr lang="en-US"/>
        </a:p>
      </dgm:t>
    </dgm:pt>
    <dgm:pt modelId="{D567AB34-7C48-4FFA-B71B-D6A421C0B406}" type="sibTrans" cxnId="{E18CD88C-450F-42B5-8E21-6D009A14B447}">
      <dgm:prSet/>
      <dgm:spPr/>
      <dgm:t>
        <a:bodyPr/>
        <a:lstStyle/>
        <a:p>
          <a:endParaRPr lang="en-US"/>
        </a:p>
      </dgm:t>
    </dgm:pt>
    <dgm:pt modelId="{259827CF-A65D-4F58-9748-FD6AC8BDF372}">
      <dgm:prSet phldrT="[Text]" phldr="0" custT="1"/>
      <dgm:spPr/>
      <dgm:t>
        <a:bodyPr/>
        <a:lstStyle/>
        <a:p>
          <a:r>
            <a:rPr lang="en-US" sz="2000" dirty="0"/>
            <a:t>Prioritize Workforce Transformation</a:t>
          </a:r>
        </a:p>
      </dgm:t>
    </dgm:pt>
    <dgm:pt modelId="{B4BE2A73-7554-4642-8D28-35F699A14478}" type="parTrans" cxnId="{DFE3D1AA-21FF-4F03-AF99-25355437F39C}">
      <dgm:prSet/>
      <dgm:spPr/>
      <dgm:t>
        <a:bodyPr/>
        <a:lstStyle/>
        <a:p>
          <a:endParaRPr lang="en-US"/>
        </a:p>
      </dgm:t>
    </dgm:pt>
    <dgm:pt modelId="{7C9D9D85-6724-42D7-BAEE-EBD151179478}" type="sibTrans" cxnId="{DFE3D1AA-21FF-4F03-AF99-25355437F39C}">
      <dgm:prSet/>
      <dgm:spPr/>
      <dgm:t>
        <a:bodyPr/>
        <a:lstStyle/>
        <a:p>
          <a:endParaRPr lang="en-US"/>
        </a:p>
      </dgm:t>
    </dgm:pt>
    <dgm:pt modelId="{4D83FE52-4CCC-44AA-8B42-AE050CAED7B6}">
      <dgm:prSet phldrT="[Text]" phldr="0" custT="1"/>
      <dgm:spPr/>
      <dgm:t>
        <a:bodyPr/>
        <a:lstStyle/>
        <a:p>
          <a:r>
            <a:rPr lang="en-US" sz="2000" dirty="0"/>
            <a:t>Target Adoption Gaps</a:t>
          </a:r>
        </a:p>
      </dgm:t>
    </dgm:pt>
    <dgm:pt modelId="{D757B012-5075-4F1E-A7FC-BA1464EAF310}" type="parTrans" cxnId="{75C4457F-36EE-4291-86EA-925FF78CDE6F}">
      <dgm:prSet/>
      <dgm:spPr/>
      <dgm:t>
        <a:bodyPr/>
        <a:lstStyle/>
        <a:p>
          <a:endParaRPr lang="en-US"/>
        </a:p>
      </dgm:t>
    </dgm:pt>
    <dgm:pt modelId="{5D194BBF-6810-4B08-B767-32DA05F015C0}" type="sibTrans" cxnId="{75C4457F-36EE-4291-86EA-925FF78CDE6F}">
      <dgm:prSet/>
      <dgm:spPr/>
      <dgm:t>
        <a:bodyPr/>
        <a:lstStyle/>
        <a:p>
          <a:endParaRPr lang="en-US"/>
        </a:p>
      </dgm:t>
    </dgm:pt>
    <dgm:pt modelId="{B187C365-E632-4D72-9EBC-8268B764B7FE}">
      <dgm:prSet phldrT="[Text]" phldr="0"/>
      <dgm:spPr/>
      <dgm:t>
        <a:bodyPr/>
        <a:lstStyle/>
        <a:p>
          <a:r>
            <a:rPr lang="en-US" b="1" dirty="0"/>
            <a:t>Action:</a:t>
          </a:r>
          <a:r>
            <a:rPr lang="en-US" dirty="0"/>
            <a:t> Move beyond pilot efforts toward structured AI integration strategies</a:t>
          </a:r>
        </a:p>
      </dgm:t>
    </dgm:pt>
    <dgm:pt modelId="{E2299D8D-C6FC-4FE2-91B9-280FEEBEFD2C}" type="parTrans" cxnId="{47C0F392-3046-49A3-B792-D11BBB554D9F}">
      <dgm:prSet/>
      <dgm:spPr/>
      <dgm:t>
        <a:bodyPr/>
        <a:lstStyle/>
        <a:p>
          <a:endParaRPr lang="en-US"/>
        </a:p>
      </dgm:t>
    </dgm:pt>
    <dgm:pt modelId="{DB463B97-27C3-449D-8202-49AD919951F9}" type="sibTrans" cxnId="{47C0F392-3046-49A3-B792-D11BBB554D9F}">
      <dgm:prSet/>
      <dgm:spPr/>
      <dgm:t>
        <a:bodyPr/>
        <a:lstStyle/>
        <a:p>
          <a:endParaRPr lang="en-US"/>
        </a:p>
      </dgm:t>
    </dgm:pt>
    <dgm:pt modelId="{DB6CB981-4EA1-41C8-8D94-7EF2D708D663}">
      <dgm:prSet phldrT="[Text]" phldr="0"/>
      <dgm:spPr/>
      <dgm:t>
        <a:bodyPr/>
        <a:lstStyle/>
        <a:p>
          <a:r>
            <a:rPr lang="en-US" b="1" dirty="0"/>
            <a:t>Why:</a:t>
          </a:r>
          <a:r>
            <a:rPr lang="en-US" dirty="0"/>
            <a:t> Mature adoption demonstrated stronger business outcomes</a:t>
          </a:r>
        </a:p>
      </dgm:t>
    </dgm:pt>
    <dgm:pt modelId="{F22B91F6-32CA-45C8-8318-9A024593C6CD}" type="parTrans" cxnId="{4396901F-DEB2-4355-9FCF-7FB665647C64}">
      <dgm:prSet/>
      <dgm:spPr/>
      <dgm:t>
        <a:bodyPr/>
        <a:lstStyle/>
        <a:p>
          <a:endParaRPr lang="en-US"/>
        </a:p>
      </dgm:t>
    </dgm:pt>
    <dgm:pt modelId="{FAB07AD4-1260-456C-A478-56FD2CF5F0A1}" type="sibTrans" cxnId="{4396901F-DEB2-4355-9FCF-7FB665647C64}">
      <dgm:prSet/>
      <dgm:spPr/>
      <dgm:t>
        <a:bodyPr/>
        <a:lstStyle/>
        <a:p>
          <a:endParaRPr lang="en-US"/>
        </a:p>
      </dgm:t>
    </dgm:pt>
    <dgm:pt modelId="{61662FB2-B989-4543-81DB-F937552B4AB8}">
      <dgm:prSet phldrT="[Text]" phldr="0"/>
      <dgm:spPr/>
      <dgm:t>
        <a:bodyPr/>
        <a:lstStyle/>
        <a:p>
          <a:r>
            <a:rPr lang="en-US" b="1" dirty="0"/>
            <a:t>Action:</a:t>
          </a:r>
          <a:r>
            <a:rPr lang="en-US" dirty="0"/>
            <a:t> Integrate reskilling into AI adoption plans</a:t>
          </a:r>
        </a:p>
      </dgm:t>
    </dgm:pt>
    <dgm:pt modelId="{FD3DA2CA-B911-4E62-97A6-303B2A48F024}" type="parTrans" cxnId="{C36447D6-9A92-42EB-921B-70CB25D4B001}">
      <dgm:prSet/>
      <dgm:spPr/>
      <dgm:t>
        <a:bodyPr/>
        <a:lstStyle/>
        <a:p>
          <a:endParaRPr lang="en-US"/>
        </a:p>
      </dgm:t>
    </dgm:pt>
    <dgm:pt modelId="{7892333E-DAA3-4F5F-9CEC-B4E9CD4050A7}" type="sibTrans" cxnId="{C36447D6-9A92-42EB-921B-70CB25D4B001}">
      <dgm:prSet/>
      <dgm:spPr/>
      <dgm:t>
        <a:bodyPr/>
        <a:lstStyle/>
        <a:p>
          <a:endParaRPr lang="en-US"/>
        </a:p>
      </dgm:t>
    </dgm:pt>
    <dgm:pt modelId="{3AFBC9AD-B796-4015-8346-21EC96C05240}">
      <dgm:prSet phldrT="[Text]" phldr="0"/>
      <dgm:spPr/>
      <dgm:t>
        <a:bodyPr/>
        <a:lstStyle/>
        <a:p>
          <a:r>
            <a:rPr lang="en-US" b="1" dirty="0"/>
            <a:t>Why:</a:t>
          </a:r>
          <a:r>
            <a:rPr lang="en-US" dirty="0"/>
            <a:t> Reskilling represented the largest workforce response across company sizes</a:t>
          </a:r>
        </a:p>
      </dgm:t>
    </dgm:pt>
    <dgm:pt modelId="{AD7EBAF4-C60C-4AD9-B19B-A2B6CCD0700A}" type="parTrans" cxnId="{1E3B5861-F4B0-4A0D-AAB4-40E4E0812F12}">
      <dgm:prSet/>
      <dgm:spPr/>
      <dgm:t>
        <a:bodyPr/>
        <a:lstStyle/>
        <a:p>
          <a:endParaRPr lang="en-US"/>
        </a:p>
      </dgm:t>
    </dgm:pt>
    <dgm:pt modelId="{A6730F01-3B4D-48AD-92E7-42FCB822F4DA}" type="sibTrans" cxnId="{1E3B5861-F4B0-4A0D-AAB4-40E4E0812F12}">
      <dgm:prSet/>
      <dgm:spPr/>
      <dgm:t>
        <a:bodyPr/>
        <a:lstStyle/>
        <a:p>
          <a:endParaRPr lang="en-US"/>
        </a:p>
      </dgm:t>
    </dgm:pt>
    <dgm:pt modelId="{C724AB61-0F86-4DE0-B195-305876AFE768}">
      <dgm:prSet phldrT="[Text]" phldr="0"/>
      <dgm:spPr/>
      <dgm:t>
        <a:bodyPr/>
        <a:lstStyle/>
        <a:p>
          <a:r>
            <a:rPr lang="en-US" b="1" dirty="0"/>
            <a:t>Action:</a:t>
          </a:r>
          <a:r>
            <a:rPr lang="en-US" dirty="0"/>
            <a:t> Identify and address barriers limiting AI maturity</a:t>
          </a:r>
        </a:p>
      </dgm:t>
    </dgm:pt>
    <dgm:pt modelId="{D81D00DA-8753-432C-BCE7-E25D00CA49D1}" type="parTrans" cxnId="{A7B12F7B-AD67-4C0A-861F-EF537D48E6F9}">
      <dgm:prSet/>
      <dgm:spPr/>
      <dgm:t>
        <a:bodyPr/>
        <a:lstStyle/>
        <a:p>
          <a:endParaRPr lang="en-US"/>
        </a:p>
      </dgm:t>
    </dgm:pt>
    <dgm:pt modelId="{BCB161A7-7777-4AD2-8DF3-56CDE0DEAB99}" type="sibTrans" cxnId="{A7B12F7B-AD67-4C0A-861F-EF537D48E6F9}">
      <dgm:prSet/>
      <dgm:spPr/>
      <dgm:t>
        <a:bodyPr/>
        <a:lstStyle/>
        <a:p>
          <a:endParaRPr lang="en-US"/>
        </a:p>
      </dgm:t>
    </dgm:pt>
    <dgm:pt modelId="{CD034366-8F79-4934-8E07-32137322B313}">
      <dgm:prSet phldrT="[Text]" phldr="0"/>
      <dgm:spPr/>
      <dgm:t>
        <a:bodyPr/>
        <a:lstStyle/>
        <a:p>
          <a:r>
            <a:rPr lang="en-US" b="1" dirty="0"/>
            <a:t>Why:</a:t>
          </a:r>
          <a:r>
            <a:rPr lang="en-US" dirty="0"/>
            <a:t> Successful adoption requires aligning technology, processes, and workforce readiness</a:t>
          </a:r>
        </a:p>
      </dgm:t>
    </dgm:pt>
    <dgm:pt modelId="{DC97E991-DA74-40C0-AF5D-F5EE73AE911A}" type="parTrans" cxnId="{0DE23EDF-4377-4041-9D59-A111E8A6C65B}">
      <dgm:prSet/>
      <dgm:spPr/>
      <dgm:t>
        <a:bodyPr/>
        <a:lstStyle/>
        <a:p>
          <a:endParaRPr lang="en-US"/>
        </a:p>
      </dgm:t>
    </dgm:pt>
    <dgm:pt modelId="{FB99A59D-7289-4F64-9065-1897B35904FA}" type="sibTrans" cxnId="{0DE23EDF-4377-4041-9D59-A111E8A6C65B}">
      <dgm:prSet/>
      <dgm:spPr/>
      <dgm:t>
        <a:bodyPr/>
        <a:lstStyle/>
        <a:p>
          <a:endParaRPr lang="en-US"/>
        </a:p>
      </dgm:t>
    </dgm:pt>
    <dgm:pt modelId="{620098BC-09AB-4ED2-B960-558061B87B12}" type="pres">
      <dgm:prSet presAssocID="{F127E61C-FD4C-4866-BA3D-CB159576111D}" presName="layout" presStyleCnt="0">
        <dgm:presLayoutVars>
          <dgm:chMax/>
          <dgm:chPref/>
          <dgm:dir/>
          <dgm:resizeHandles/>
        </dgm:presLayoutVars>
      </dgm:prSet>
      <dgm:spPr/>
    </dgm:pt>
    <dgm:pt modelId="{77808EE7-9CE8-4691-AF59-D69CAC93892D}" type="pres">
      <dgm:prSet presAssocID="{9C41E2D0-4C56-49D6-92B8-60893AA91F2A}" presName="root" presStyleCnt="0">
        <dgm:presLayoutVars>
          <dgm:chMax/>
          <dgm:chPref/>
        </dgm:presLayoutVars>
      </dgm:prSet>
      <dgm:spPr/>
    </dgm:pt>
    <dgm:pt modelId="{E346D839-5E9F-4F5A-AA75-1B77DC61401D}" type="pres">
      <dgm:prSet presAssocID="{9C41E2D0-4C56-49D6-92B8-60893AA91F2A}" presName="rootComposite" presStyleCnt="0">
        <dgm:presLayoutVars/>
      </dgm:prSet>
      <dgm:spPr/>
    </dgm:pt>
    <dgm:pt modelId="{049385B7-4DBD-438C-8FE3-AF06DB0B7A5C}" type="pres">
      <dgm:prSet presAssocID="{9C41E2D0-4C56-49D6-92B8-60893AA91F2A}" presName="ParentAccent" presStyleLbl="alignNode1" presStyleIdx="0" presStyleCnt="3"/>
      <dgm:spPr/>
    </dgm:pt>
    <dgm:pt modelId="{D6F612AE-0252-40F9-AA06-DC466B01707C}" type="pres">
      <dgm:prSet presAssocID="{9C41E2D0-4C56-49D6-92B8-60893AA91F2A}" presName="ParentSmallAccent" presStyleLbl="fgAcc1" presStyleIdx="0" presStyleCnt="3"/>
      <dgm:spPr/>
    </dgm:pt>
    <dgm:pt modelId="{DFCD9B2A-8769-4963-AA7F-6A0C29B4FFF1}" type="pres">
      <dgm:prSet presAssocID="{9C41E2D0-4C56-49D6-92B8-60893AA91F2A}" presName="Parent" presStyleLbl="revTx" presStyleIdx="0" presStyleCnt="9">
        <dgm:presLayoutVars>
          <dgm:chMax/>
          <dgm:chPref val="4"/>
          <dgm:bulletEnabled val="1"/>
        </dgm:presLayoutVars>
      </dgm:prSet>
      <dgm:spPr/>
    </dgm:pt>
    <dgm:pt modelId="{55EC029D-1F23-49CC-8449-487E15DBF05A}" type="pres">
      <dgm:prSet presAssocID="{9C41E2D0-4C56-49D6-92B8-60893AA91F2A}" presName="childShape" presStyleCnt="0">
        <dgm:presLayoutVars>
          <dgm:chMax val="0"/>
          <dgm:chPref val="0"/>
        </dgm:presLayoutVars>
      </dgm:prSet>
      <dgm:spPr/>
    </dgm:pt>
    <dgm:pt modelId="{9C616291-6A28-459F-8000-FE6AB32C8F16}" type="pres">
      <dgm:prSet presAssocID="{B187C365-E632-4D72-9EBC-8268B764B7FE}" presName="childComposite" presStyleCnt="0">
        <dgm:presLayoutVars>
          <dgm:chMax val="0"/>
          <dgm:chPref val="0"/>
        </dgm:presLayoutVars>
      </dgm:prSet>
      <dgm:spPr/>
    </dgm:pt>
    <dgm:pt modelId="{F99323EA-3004-4402-8F83-5ECED4762AE5}" type="pres">
      <dgm:prSet presAssocID="{B187C365-E632-4D72-9EBC-8268B764B7FE}" presName="ChildAccent" presStyleLbl="solidFgAcc1" presStyleIdx="0" presStyleCnt="6"/>
      <dgm:spPr/>
    </dgm:pt>
    <dgm:pt modelId="{5932BD51-9B3C-4916-A6EB-D793BBB4E850}" type="pres">
      <dgm:prSet presAssocID="{B187C365-E632-4D72-9EBC-8268B764B7FE}" presName="Child" presStyleLbl="revTx" presStyleIdx="1" presStyleCnt="9">
        <dgm:presLayoutVars>
          <dgm:chMax val="0"/>
          <dgm:chPref val="0"/>
          <dgm:bulletEnabled val="1"/>
        </dgm:presLayoutVars>
      </dgm:prSet>
      <dgm:spPr/>
    </dgm:pt>
    <dgm:pt modelId="{10025545-6C17-4391-84FB-A9EA1024595E}" type="pres">
      <dgm:prSet presAssocID="{DB6CB981-4EA1-41C8-8D94-7EF2D708D663}" presName="childComposite" presStyleCnt="0">
        <dgm:presLayoutVars>
          <dgm:chMax val="0"/>
          <dgm:chPref val="0"/>
        </dgm:presLayoutVars>
      </dgm:prSet>
      <dgm:spPr/>
    </dgm:pt>
    <dgm:pt modelId="{814BB851-51AE-4B5A-AA27-AA8725E890A0}" type="pres">
      <dgm:prSet presAssocID="{DB6CB981-4EA1-41C8-8D94-7EF2D708D663}" presName="ChildAccent" presStyleLbl="solidFgAcc1" presStyleIdx="1" presStyleCnt="6"/>
      <dgm:spPr/>
    </dgm:pt>
    <dgm:pt modelId="{E15652FB-C854-413E-940E-9D91024AD1F7}" type="pres">
      <dgm:prSet presAssocID="{DB6CB981-4EA1-41C8-8D94-7EF2D708D663}" presName="Child" presStyleLbl="revTx" presStyleIdx="2" presStyleCnt="9">
        <dgm:presLayoutVars>
          <dgm:chMax val="0"/>
          <dgm:chPref val="0"/>
          <dgm:bulletEnabled val="1"/>
        </dgm:presLayoutVars>
      </dgm:prSet>
      <dgm:spPr/>
    </dgm:pt>
    <dgm:pt modelId="{E495D90C-5937-442B-9EA2-D8E0E7AD6590}" type="pres">
      <dgm:prSet presAssocID="{259827CF-A65D-4F58-9748-FD6AC8BDF372}" presName="root" presStyleCnt="0">
        <dgm:presLayoutVars>
          <dgm:chMax/>
          <dgm:chPref/>
        </dgm:presLayoutVars>
      </dgm:prSet>
      <dgm:spPr/>
    </dgm:pt>
    <dgm:pt modelId="{4151616F-A625-4396-A802-3E2986B21D4D}" type="pres">
      <dgm:prSet presAssocID="{259827CF-A65D-4F58-9748-FD6AC8BDF372}" presName="rootComposite" presStyleCnt="0">
        <dgm:presLayoutVars/>
      </dgm:prSet>
      <dgm:spPr/>
    </dgm:pt>
    <dgm:pt modelId="{064B4E41-CAAC-4C38-A49F-5333C7B8CE70}" type="pres">
      <dgm:prSet presAssocID="{259827CF-A65D-4F58-9748-FD6AC8BDF372}" presName="ParentAccent" presStyleLbl="alignNode1" presStyleIdx="1" presStyleCnt="3"/>
      <dgm:spPr/>
    </dgm:pt>
    <dgm:pt modelId="{69D5510A-2DAD-494A-8F45-B9B32CE8B5E1}" type="pres">
      <dgm:prSet presAssocID="{259827CF-A65D-4F58-9748-FD6AC8BDF372}" presName="ParentSmallAccent" presStyleLbl="fgAcc1" presStyleIdx="1" presStyleCnt="3"/>
      <dgm:spPr/>
    </dgm:pt>
    <dgm:pt modelId="{546D977F-E5CD-42D8-B8CD-BA2AC750972B}" type="pres">
      <dgm:prSet presAssocID="{259827CF-A65D-4F58-9748-FD6AC8BDF372}" presName="Parent" presStyleLbl="revTx" presStyleIdx="3" presStyleCnt="9">
        <dgm:presLayoutVars>
          <dgm:chMax/>
          <dgm:chPref val="4"/>
          <dgm:bulletEnabled val="1"/>
        </dgm:presLayoutVars>
      </dgm:prSet>
      <dgm:spPr/>
    </dgm:pt>
    <dgm:pt modelId="{1C862122-0C21-4E8A-BC27-36D5AEABB49F}" type="pres">
      <dgm:prSet presAssocID="{259827CF-A65D-4F58-9748-FD6AC8BDF372}" presName="childShape" presStyleCnt="0">
        <dgm:presLayoutVars>
          <dgm:chMax val="0"/>
          <dgm:chPref val="0"/>
        </dgm:presLayoutVars>
      </dgm:prSet>
      <dgm:spPr/>
    </dgm:pt>
    <dgm:pt modelId="{775BD3AC-C091-498F-9071-DDE62A87E5CD}" type="pres">
      <dgm:prSet presAssocID="{61662FB2-B989-4543-81DB-F937552B4AB8}" presName="childComposite" presStyleCnt="0">
        <dgm:presLayoutVars>
          <dgm:chMax val="0"/>
          <dgm:chPref val="0"/>
        </dgm:presLayoutVars>
      </dgm:prSet>
      <dgm:spPr/>
    </dgm:pt>
    <dgm:pt modelId="{1498DD5A-EC0F-444D-9BD0-9A4B15BC82D1}" type="pres">
      <dgm:prSet presAssocID="{61662FB2-B989-4543-81DB-F937552B4AB8}" presName="ChildAccent" presStyleLbl="solidFgAcc1" presStyleIdx="2" presStyleCnt="6"/>
      <dgm:spPr/>
    </dgm:pt>
    <dgm:pt modelId="{07ACA282-2398-493D-A64B-BCA36DFCD99B}" type="pres">
      <dgm:prSet presAssocID="{61662FB2-B989-4543-81DB-F937552B4AB8}" presName="Child" presStyleLbl="revTx" presStyleIdx="4" presStyleCnt="9">
        <dgm:presLayoutVars>
          <dgm:chMax val="0"/>
          <dgm:chPref val="0"/>
          <dgm:bulletEnabled val="1"/>
        </dgm:presLayoutVars>
      </dgm:prSet>
      <dgm:spPr/>
    </dgm:pt>
    <dgm:pt modelId="{2DC28C84-EAD0-42FD-974F-F776BD03597A}" type="pres">
      <dgm:prSet presAssocID="{3AFBC9AD-B796-4015-8346-21EC96C05240}" presName="childComposite" presStyleCnt="0">
        <dgm:presLayoutVars>
          <dgm:chMax val="0"/>
          <dgm:chPref val="0"/>
        </dgm:presLayoutVars>
      </dgm:prSet>
      <dgm:spPr/>
    </dgm:pt>
    <dgm:pt modelId="{9D762747-99EA-435D-AFCE-0A91873E4F44}" type="pres">
      <dgm:prSet presAssocID="{3AFBC9AD-B796-4015-8346-21EC96C05240}" presName="ChildAccent" presStyleLbl="solidFgAcc1" presStyleIdx="3" presStyleCnt="6"/>
      <dgm:spPr/>
    </dgm:pt>
    <dgm:pt modelId="{73C9F4C8-4D85-4C6F-9A4F-FF40D0DCE643}" type="pres">
      <dgm:prSet presAssocID="{3AFBC9AD-B796-4015-8346-21EC96C05240}" presName="Child" presStyleLbl="revTx" presStyleIdx="5" presStyleCnt="9">
        <dgm:presLayoutVars>
          <dgm:chMax val="0"/>
          <dgm:chPref val="0"/>
          <dgm:bulletEnabled val="1"/>
        </dgm:presLayoutVars>
      </dgm:prSet>
      <dgm:spPr/>
    </dgm:pt>
    <dgm:pt modelId="{3E3F4699-024B-4AE9-987A-1A566B322272}" type="pres">
      <dgm:prSet presAssocID="{4D83FE52-4CCC-44AA-8B42-AE050CAED7B6}" presName="root" presStyleCnt="0">
        <dgm:presLayoutVars>
          <dgm:chMax/>
          <dgm:chPref/>
        </dgm:presLayoutVars>
      </dgm:prSet>
      <dgm:spPr/>
    </dgm:pt>
    <dgm:pt modelId="{97AF592B-E32E-4C22-8B4E-747DAE980DCB}" type="pres">
      <dgm:prSet presAssocID="{4D83FE52-4CCC-44AA-8B42-AE050CAED7B6}" presName="rootComposite" presStyleCnt="0">
        <dgm:presLayoutVars/>
      </dgm:prSet>
      <dgm:spPr/>
    </dgm:pt>
    <dgm:pt modelId="{62983734-7DE0-4908-84B7-06DB4D60B87A}" type="pres">
      <dgm:prSet presAssocID="{4D83FE52-4CCC-44AA-8B42-AE050CAED7B6}" presName="ParentAccent" presStyleLbl="alignNode1" presStyleIdx="2" presStyleCnt="3"/>
      <dgm:spPr/>
    </dgm:pt>
    <dgm:pt modelId="{BB8CC828-5743-4CAC-8EA7-0136619E175B}" type="pres">
      <dgm:prSet presAssocID="{4D83FE52-4CCC-44AA-8B42-AE050CAED7B6}" presName="ParentSmallAccent" presStyleLbl="fgAcc1" presStyleIdx="2" presStyleCnt="3"/>
      <dgm:spPr/>
    </dgm:pt>
    <dgm:pt modelId="{D7787BA8-8030-467B-BEE0-64C8790FCFB7}" type="pres">
      <dgm:prSet presAssocID="{4D83FE52-4CCC-44AA-8B42-AE050CAED7B6}" presName="Parent" presStyleLbl="revTx" presStyleIdx="6" presStyleCnt="9">
        <dgm:presLayoutVars>
          <dgm:chMax/>
          <dgm:chPref val="4"/>
          <dgm:bulletEnabled val="1"/>
        </dgm:presLayoutVars>
      </dgm:prSet>
      <dgm:spPr/>
    </dgm:pt>
    <dgm:pt modelId="{659AA02D-247E-44D0-B686-CB5285C320C5}" type="pres">
      <dgm:prSet presAssocID="{4D83FE52-4CCC-44AA-8B42-AE050CAED7B6}" presName="childShape" presStyleCnt="0">
        <dgm:presLayoutVars>
          <dgm:chMax val="0"/>
          <dgm:chPref val="0"/>
        </dgm:presLayoutVars>
      </dgm:prSet>
      <dgm:spPr/>
    </dgm:pt>
    <dgm:pt modelId="{3A80BCD5-52A0-4828-A809-76B7B7862229}" type="pres">
      <dgm:prSet presAssocID="{C724AB61-0F86-4DE0-B195-305876AFE768}" presName="childComposite" presStyleCnt="0">
        <dgm:presLayoutVars>
          <dgm:chMax val="0"/>
          <dgm:chPref val="0"/>
        </dgm:presLayoutVars>
      </dgm:prSet>
      <dgm:spPr/>
    </dgm:pt>
    <dgm:pt modelId="{36DEC363-524D-4561-908A-5EC4EF8C1E6D}" type="pres">
      <dgm:prSet presAssocID="{C724AB61-0F86-4DE0-B195-305876AFE768}" presName="ChildAccent" presStyleLbl="solidFgAcc1" presStyleIdx="4" presStyleCnt="6"/>
      <dgm:spPr/>
    </dgm:pt>
    <dgm:pt modelId="{FA903836-17FC-4554-B59C-42AEB4099400}" type="pres">
      <dgm:prSet presAssocID="{C724AB61-0F86-4DE0-B195-305876AFE768}" presName="Child" presStyleLbl="revTx" presStyleIdx="7" presStyleCnt="9">
        <dgm:presLayoutVars>
          <dgm:chMax val="0"/>
          <dgm:chPref val="0"/>
          <dgm:bulletEnabled val="1"/>
        </dgm:presLayoutVars>
      </dgm:prSet>
      <dgm:spPr/>
    </dgm:pt>
    <dgm:pt modelId="{BBE97843-A793-4C9E-951D-D6B9BF5C9E54}" type="pres">
      <dgm:prSet presAssocID="{CD034366-8F79-4934-8E07-32137322B313}" presName="childComposite" presStyleCnt="0">
        <dgm:presLayoutVars>
          <dgm:chMax val="0"/>
          <dgm:chPref val="0"/>
        </dgm:presLayoutVars>
      </dgm:prSet>
      <dgm:spPr/>
    </dgm:pt>
    <dgm:pt modelId="{5763965D-1049-414B-8810-7E2C45D67ECC}" type="pres">
      <dgm:prSet presAssocID="{CD034366-8F79-4934-8E07-32137322B313}" presName="ChildAccent" presStyleLbl="solidFgAcc1" presStyleIdx="5" presStyleCnt="6"/>
      <dgm:spPr/>
    </dgm:pt>
    <dgm:pt modelId="{1540C454-32D8-44D7-8B9F-A3858EB73D0E}" type="pres">
      <dgm:prSet presAssocID="{CD034366-8F79-4934-8E07-32137322B313}" presName="Child" presStyleLbl="revTx" presStyleIdx="8" presStyleCnt="9">
        <dgm:presLayoutVars>
          <dgm:chMax val="0"/>
          <dgm:chPref val="0"/>
          <dgm:bulletEnabled val="1"/>
        </dgm:presLayoutVars>
      </dgm:prSet>
      <dgm:spPr/>
    </dgm:pt>
  </dgm:ptLst>
  <dgm:cxnLst>
    <dgm:cxn modelId="{8B26B112-D1ED-46D7-A135-7D7BC8154F03}" type="presOf" srcId="{61662FB2-B989-4543-81DB-F937552B4AB8}" destId="{07ACA282-2398-493D-A64B-BCA36DFCD99B}" srcOrd="0" destOrd="0" presId="urn:microsoft.com/office/officeart/2008/layout/SquareAccentList"/>
    <dgm:cxn modelId="{FBFE7913-429D-48EB-969D-8CE10020AE82}" type="presOf" srcId="{C724AB61-0F86-4DE0-B195-305876AFE768}" destId="{FA903836-17FC-4554-B59C-42AEB4099400}" srcOrd="0" destOrd="0" presId="urn:microsoft.com/office/officeart/2008/layout/SquareAccentList"/>
    <dgm:cxn modelId="{4396901F-DEB2-4355-9FCF-7FB665647C64}" srcId="{9C41E2D0-4C56-49D6-92B8-60893AA91F2A}" destId="{DB6CB981-4EA1-41C8-8D94-7EF2D708D663}" srcOrd="1" destOrd="0" parTransId="{F22B91F6-32CA-45C8-8318-9A024593C6CD}" sibTransId="{FAB07AD4-1260-456C-A478-56FD2CF5F0A1}"/>
    <dgm:cxn modelId="{1E3B5861-F4B0-4A0D-AAB4-40E4E0812F12}" srcId="{259827CF-A65D-4F58-9748-FD6AC8BDF372}" destId="{3AFBC9AD-B796-4015-8346-21EC96C05240}" srcOrd="1" destOrd="0" parTransId="{AD7EBAF4-C60C-4AD9-B19B-A2B6CCD0700A}" sibTransId="{A6730F01-3B4D-48AD-92E7-42FCB822F4DA}"/>
    <dgm:cxn modelId="{ADC63163-ACBC-4215-8A45-41069501C7B1}" type="presOf" srcId="{CD034366-8F79-4934-8E07-32137322B313}" destId="{1540C454-32D8-44D7-8B9F-A3858EB73D0E}" srcOrd="0" destOrd="0" presId="urn:microsoft.com/office/officeart/2008/layout/SquareAccentList"/>
    <dgm:cxn modelId="{7A0D326C-7143-4F1D-9653-FBA289BABC56}" type="presOf" srcId="{F127E61C-FD4C-4866-BA3D-CB159576111D}" destId="{620098BC-09AB-4ED2-B960-558061B87B12}" srcOrd="0" destOrd="0" presId="urn:microsoft.com/office/officeart/2008/layout/SquareAccentList"/>
    <dgm:cxn modelId="{633A0A51-1817-481B-B169-5579193DCB0B}" type="presOf" srcId="{9C41E2D0-4C56-49D6-92B8-60893AA91F2A}" destId="{DFCD9B2A-8769-4963-AA7F-6A0C29B4FFF1}" srcOrd="0" destOrd="0" presId="urn:microsoft.com/office/officeart/2008/layout/SquareAccentList"/>
    <dgm:cxn modelId="{8FF3075A-EC9C-470C-9EC1-13D92CE7CC88}" type="presOf" srcId="{3AFBC9AD-B796-4015-8346-21EC96C05240}" destId="{73C9F4C8-4D85-4C6F-9A4F-FF40D0DCE643}" srcOrd="0" destOrd="0" presId="urn:microsoft.com/office/officeart/2008/layout/SquareAccentList"/>
    <dgm:cxn modelId="{A7B12F7B-AD67-4C0A-861F-EF537D48E6F9}" srcId="{4D83FE52-4CCC-44AA-8B42-AE050CAED7B6}" destId="{C724AB61-0F86-4DE0-B195-305876AFE768}" srcOrd="0" destOrd="0" parTransId="{D81D00DA-8753-432C-BCE7-E25D00CA49D1}" sibTransId="{BCB161A7-7777-4AD2-8DF3-56CDE0DEAB99}"/>
    <dgm:cxn modelId="{75C4457F-36EE-4291-86EA-925FF78CDE6F}" srcId="{F127E61C-FD4C-4866-BA3D-CB159576111D}" destId="{4D83FE52-4CCC-44AA-8B42-AE050CAED7B6}" srcOrd="2" destOrd="0" parTransId="{D757B012-5075-4F1E-A7FC-BA1464EAF310}" sibTransId="{5D194BBF-6810-4B08-B767-32DA05F015C0}"/>
    <dgm:cxn modelId="{E18CD88C-450F-42B5-8E21-6D009A14B447}" srcId="{F127E61C-FD4C-4866-BA3D-CB159576111D}" destId="{9C41E2D0-4C56-49D6-92B8-60893AA91F2A}" srcOrd="0" destOrd="0" parTransId="{0EE6A6E4-00E0-4870-948E-B348E3F35D0A}" sibTransId="{D567AB34-7C48-4FFA-B71B-D6A421C0B406}"/>
    <dgm:cxn modelId="{7E7BEC8D-45B5-476F-8237-8440F048990A}" type="presOf" srcId="{259827CF-A65D-4F58-9748-FD6AC8BDF372}" destId="{546D977F-E5CD-42D8-B8CD-BA2AC750972B}" srcOrd="0" destOrd="0" presId="urn:microsoft.com/office/officeart/2008/layout/SquareAccentList"/>
    <dgm:cxn modelId="{47C0F392-3046-49A3-B792-D11BBB554D9F}" srcId="{9C41E2D0-4C56-49D6-92B8-60893AA91F2A}" destId="{B187C365-E632-4D72-9EBC-8268B764B7FE}" srcOrd="0" destOrd="0" parTransId="{E2299D8D-C6FC-4FE2-91B9-280FEEBEFD2C}" sibTransId="{DB463B97-27C3-449D-8202-49AD919951F9}"/>
    <dgm:cxn modelId="{8E8C49A6-DE3B-4250-8334-4B2B82DDF170}" type="presOf" srcId="{4D83FE52-4CCC-44AA-8B42-AE050CAED7B6}" destId="{D7787BA8-8030-467B-BEE0-64C8790FCFB7}" srcOrd="0" destOrd="0" presId="urn:microsoft.com/office/officeart/2008/layout/SquareAccentList"/>
    <dgm:cxn modelId="{DFE3D1AA-21FF-4F03-AF99-25355437F39C}" srcId="{F127E61C-FD4C-4866-BA3D-CB159576111D}" destId="{259827CF-A65D-4F58-9748-FD6AC8BDF372}" srcOrd="1" destOrd="0" parTransId="{B4BE2A73-7554-4642-8D28-35F699A14478}" sibTransId="{7C9D9D85-6724-42D7-BAEE-EBD151179478}"/>
    <dgm:cxn modelId="{9F8375AE-F97B-4E42-9641-CCC87B212B01}" type="presOf" srcId="{B187C365-E632-4D72-9EBC-8268B764B7FE}" destId="{5932BD51-9B3C-4916-A6EB-D793BBB4E850}" srcOrd="0" destOrd="0" presId="urn:microsoft.com/office/officeart/2008/layout/SquareAccentList"/>
    <dgm:cxn modelId="{5943ADC8-9D01-44E3-9D00-23E930DA060A}" type="presOf" srcId="{DB6CB981-4EA1-41C8-8D94-7EF2D708D663}" destId="{E15652FB-C854-413E-940E-9D91024AD1F7}" srcOrd="0" destOrd="0" presId="urn:microsoft.com/office/officeart/2008/layout/SquareAccentList"/>
    <dgm:cxn modelId="{C36447D6-9A92-42EB-921B-70CB25D4B001}" srcId="{259827CF-A65D-4F58-9748-FD6AC8BDF372}" destId="{61662FB2-B989-4543-81DB-F937552B4AB8}" srcOrd="0" destOrd="0" parTransId="{FD3DA2CA-B911-4E62-97A6-303B2A48F024}" sibTransId="{7892333E-DAA3-4F5F-9CEC-B4E9CD4050A7}"/>
    <dgm:cxn modelId="{0DE23EDF-4377-4041-9D59-A111E8A6C65B}" srcId="{4D83FE52-4CCC-44AA-8B42-AE050CAED7B6}" destId="{CD034366-8F79-4934-8E07-32137322B313}" srcOrd="1" destOrd="0" parTransId="{DC97E991-DA74-40C0-AF5D-F5EE73AE911A}" sibTransId="{FB99A59D-7289-4F64-9065-1897B35904FA}"/>
    <dgm:cxn modelId="{B5F3BC31-A186-41F4-825A-936C72F4E963}" type="presParOf" srcId="{620098BC-09AB-4ED2-B960-558061B87B12}" destId="{77808EE7-9CE8-4691-AF59-D69CAC93892D}" srcOrd="0" destOrd="0" presId="urn:microsoft.com/office/officeart/2008/layout/SquareAccentList"/>
    <dgm:cxn modelId="{DE85A28E-B41B-402F-8037-473806456A66}" type="presParOf" srcId="{77808EE7-9CE8-4691-AF59-D69CAC93892D}" destId="{E346D839-5E9F-4F5A-AA75-1B77DC61401D}" srcOrd="0" destOrd="0" presId="urn:microsoft.com/office/officeart/2008/layout/SquareAccentList"/>
    <dgm:cxn modelId="{356F12FD-E3BD-4A08-88A0-93694807793B}" type="presParOf" srcId="{E346D839-5E9F-4F5A-AA75-1B77DC61401D}" destId="{049385B7-4DBD-438C-8FE3-AF06DB0B7A5C}" srcOrd="0" destOrd="0" presId="urn:microsoft.com/office/officeart/2008/layout/SquareAccentList"/>
    <dgm:cxn modelId="{F78692D5-D37C-42B1-97EC-7162C54249FC}" type="presParOf" srcId="{E346D839-5E9F-4F5A-AA75-1B77DC61401D}" destId="{D6F612AE-0252-40F9-AA06-DC466B01707C}" srcOrd="1" destOrd="0" presId="urn:microsoft.com/office/officeart/2008/layout/SquareAccentList"/>
    <dgm:cxn modelId="{CB7E0260-F18F-4646-BDB1-3DA4A5F079AA}" type="presParOf" srcId="{E346D839-5E9F-4F5A-AA75-1B77DC61401D}" destId="{DFCD9B2A-8769-4963-AA7F-6A0C29B4FFF1}" srcOrd="2" destOrd="0" presId="urn:microsoft.com/office/officeart/2008/layout/SquareAccentList"/>
    <dgm:cxn modelId="{969A89FF-EA1D-4958-8DFC-E646D8F3D170}" type="presParOf" srcId="{77808EE7-9CE8-4691-AF59-D69CAC93892D}" destId="{55EC029D-1F23-49CC-8449-487E15DBF05A}" srcOrd="1" destOrd="0" presId="urn:microsoft.com/office/officeart/2008/layout/SquareAccentList"/>
    <dgm:cxn modelId="{EE15B821-39E6-4E94-9C88-231DE7FF1F8C}" type="presParOf" srcId="{55EC029D-1F23-49CC-8449-487E15DBF05A}" destId="{9C616291-6A28-459F-8000-FE6AB32C8F16}" srcOrd="0" destOrd="0" presId="urn:microsoft.com/office/officeart/2008/layout/SquareAccentList"/>
    <dgm:cxn modelId="{B3CBDF4D-2B49-41D2-8C49-82974DB8A4CF}" type="presParOf" srcId="{9C616291-6A28-459F-8000-FE6AB32C8F16}" destId="{F99323EA-3004-4402-8F83-5ECED4762AE5}" srcOrd="0" destOrd="0" presId="urn:microsoft.com/office/officeart/2008/layout/SquareAccentList"/>
    <dgm:cxn modelId="{44D9C8DB-7FF1-44D5-8E25-178C995169EE}" type="presParOf" srcId="{9C616291-6A28-459F-8000-FE6AB32C8F16}" destId="{5932BD51-9B3C-4916-A6EB-D793BBB4E850}" srcOrd="1" destOrd="0" presId="urn:microsoft.com/office/officeart/2008/layout/SquareAccentList"/>
    <dgm:cxn modelId="{FD1744C0-28CD-4E23-B31B-F3199ED5A802}" type="presParOf" srcId="{55EC029D-1F23-49CC-8449-487E15DBF05A}" destId="{10025545-6C17-4391-84FB-A9EA1024595E}" srcOrd="1" destOrd="0" presId="urn:microsoft.com/office/officeart/2008/layout/SquareAccentList"/>
    <dgm:cxn modelId="{AAB4374F-FD90-4BE0-9A9E-8AB02FC8F513}" type="presParOf" srcId="{10025545-6C17-4391-84FB-A9EA1024595E}" destId="{814BB851-51AE-4B5A-AA27-AA8725E890A0}" srcOrd="0" destOrd="0" presId="urn:microsoft.com/office/officeart/2008/layout/SquareAccentList"/>
    <dgm:cxn modelId="{04E685EA-4966-4982-BC89-FCA03B72C0EF}" type="presParOf" srcId="{10025545-6C17-4391-84FB-A9EA1024595E}" destId="{E15652FB-C854-413E-940E-9D91024AD1F7}" srcOrd="1" destOrd="0" presId="urn:microsoft.com/office/officeart/2008/layout/SquareAccentList"/>
    <dgm:cxn modelId="{6D00ECAB-8050-48D7-9E80-B4153663AEEA}" type="presParOf" srcId="{620098BC-09AB-4ED2-B960-558061B87B12}" destId="{E495D90C-5937-442B-9EA2-D8E0E7AD6590}" srcOrd="1" destOrd="0" presId="urn:microsoft.com/office/officeart/2008/layout/SquareAccentList"/>
    <dgm:cxn modelId="{32E5C7C7-F63C-45F1-8ECD-068A0E631ED3}" type="presParOf" srcId="{E495D90C-5937-442B-9EA2-D8E0E7AD6590}" destId="{4151616F-A625-4396-A802-3E2986B21D4D}" srcOrd="0" destOrd="0" presId="urn:microsoft.com/office/officeart/2008/layout/SquareAccentList"/>
    <dgm:cxn modelId="{62D641A1-D5BB-4CE0-8D2B-F9F45834618E}" type="presParOf" srcId="{4151616F-A625-4396-A802-3E2986B21D4D}" destId="{064B4E41-CAAC-4C38-A49F-5333C7B8CE70}" srcOrd="0" destOrd="0" presId="urn:microsoft.com/office/officeart/2008/layout/SquareAccentList"/>
    <dgm:cxn modelId="{4E72DF60-CF85-490C-B539-3ADDFA316458}" type="presParOf" srcId="{4151616F-A625-4396-A802-3E2986B21D4D}" destId="{69D5510A-2DAD-494A-8F45-B9B32CE8B5E1}" srcOrd="1" destOrd="0" presId="urn:microsoft.com/office/officeart/2008/layout/SquareAccentList"/>
    <dgm:cxn modelId="{6D97B807-2FF7-4832-A66B-781D40F7968C}" type="presParOf" srcId="{4151616F-A625-4396-A802-3E2986B21D4D}" destId="{546D977F-E5CD-42D8-B8CD-BA2AC750972B}" srcOrd="2" destOrd="0" presId="urn:microsoft.com/office/officeart/2008/layout/SquareAccentList"/>
    <dgm:cxn modelId="{5DF40392-0991-48AC-9187-F94EEE27E6CA}" type="presParOf" srcId="{E495D90C-5937-442B-9EA2-D8E0E7AD6590}" destId="{1C862122-0C21-4E8A-BC27-36D5AEABB49F}" srcOrd="1" destOrd="0" presId="urn:microsoft.com/office/officeart/2008/layout/SquareAccentList"/>
    <dgm:cxn modelId="{A4B078FC-5E81-425E-A81B-F40A2333667F}" type="presParOf" srcId="{1C862122-0C21-4E8A-BC27-36D5AEABB49F}" destId="{775BD3AC-C091-498F-9071-DDE62A87E5CD}" srcOrd="0" destOrd="0" presId="urn:microsoft.com/office/officeart/2008/layout/SquareAccentList"/>
    <dgm:cxn modelId="{5B8A4A8B-FDD6-4FD9-8B3F-1917980E7EB9}" type="presParOf" srcId="{775BD3AC-C091-498F-9071-DDE62A87E5CD}" destId="{1498DD5A-EC0F-444D-9BD0-9A4B15BC82D1}" srcOrd="0" destOrd="0" presId="urn:microsoft.com/office/officeart/2008/layout/SquareAccentList"/>
    <dgm:cxn modelId="{93B72F1A-3EC5-4C19-B4E6-0E1ED47F62D4}" type="presParOf" srcId="{775BD3AC-C091-498F-9071-DDE62A87E5CD}" destId="{07ACA282-2398-493D-A64B-BCA36DFCD99B}" srcOrd="1" destOrd="0" presId="urn:microsoft.com/office/officeart/2008/layout/SquareAccentList"/>
    <dgm:cxn modelId="{82802E1D-270E-4C98-B395-B670AD8628AD}" type="presParOf" srcId="{1C862122-0C21-4E8A-BC27-36D5AEABB49F}" destId="{2DC28C84-EAD0-42FD-974F-F776BD03597A}" srcOrd="1" destOrd="0" presId="urn:microsoft.com/office/officeart/2008/layout/SquareAccentList"/>
    <dgm:cxn modelId="{F635D2A8-FE9A-4B2E-9255-355A1B3A11E4}" type="presParOf" srcId="{2DC28C84-EAD0-42FD-974F-F776BD03597A}" destId="{9D762747-99EA-435D-AFCE-0A91873E4F44}" srcOrd="0" destOrd="0" presId="urn:microsoft.com/office/officeart/2008/layout/SquareAccentList"/>
    <dgm:cxn modelId="{AFBE67CB-FF0C-4359-A69D-21A254DCEE2A}" type="presParOf" srcId="{2DC28C84-EAD0-42FD-974F-F776BD03597A}" destId="{73C9F4C8-4D85-4C6F-9A4F-FF40D0DCE643}" srcOrd="1" destOrd="0" presId="urn:microsoft.com/office/officeart/2008/layout/SquareAccentList"/>
    <dgm:cxn modelId="{5F1D79DB-944F-4CF5-81BD-1B7AFA67015E}" type="presParOf" srcId="{620098BC-09AB-4ED2-B960-558061B87B12}" destId="{3E3F4699-024B-4AE9-987A-1A566B322272}" srcOrd="2" destOrd="0" presId="urn:microsoft.com/office/officeart/2008/layout/SquareAccentList"/>
    <dgm:cxn modelId="{4AC6C50F-863E-4EBD-B00F-DFB7F4C51558}" type="presParOf" srcId="{3E3F4699-024B-4AE9-987A-1A566B322272}" destId="{97AF592B-E32E-4C22-8B4E-747DAE980DCB}" srcOrd="0" destOrd="0" presId="urn:microsoft.com/office/officeart/2008/layout/SquareAccentList"/>
    <dgm:cxn modelId="{5CDBA3AE-3751-4BB4-81EB-2C2910ABF428}" type="presParOf" srcId="{97AF592B-E32E-4C22-8B4E-747DAE980DCB}" destId="{62983734-7DE0-4908-84B7-06DB4D60B87A}" srcOrd="0" destOrd="0" presId="urn:microsoft.com/office/officeart/2008/layout/SquareAccentList"/>
    <dgm:cxn modelId="{24DB6A71-F841-47B2-9311-798BB53AC109}" type="presParOf" srcId="{97AF592B-E32E-4C22-8B4E-747DAE980DCB}" destId="{BB8CC828-5743-4CAC-8EA7-0136619E175B}" srcOrd="1" destOrd="0" presId="urn:microsoft.com/office/officeart/2008/layout/SquareAccentList"/>
    <dgm:cxn modelId="{A93F78DB-E19B-41A0-9999-C2A9B9C3424F}" type="presParOf" srcId="{97AF592B-E32E-4C22-8B4E-747DAE980DCB}" destId="{D7787BA8-8030-467B-BEE0-64C8790FCFB7}" srcOrd="2" destOrd="0" presId="urn:microsoft.com/office/officeart/2008/layout/SquareAccentList"/>
    <dgm:cxn modelId="{8988765C-9754-42E1-9DA4-F9E3822959EB}" type="presParOf" srcId="{3E3F4699-024B-4AE9-987A-1A566B322272}" destId="{659AA02D-247E-44D0-B686-CB5285C320C5}" srcOrd="1" destOrd="0" presId="urn:microsoft.com/office/officeart/2008/layout/SquareAccentList"/>
    <dgm:cxn modelId="{73BC8BF6-BFF2-49A6-8881-C947F7A7FC0D}" type="presParOf" srcId="{659AA02D-247E-44D0-B686-CB5285C320C5}" destId="{3A80BCD5-52A0-4828-A809-76B7B7862229}" srcOrd="0" destOrd="0" presId="urn:microsoft.com/office/officeart/2008/layout/SquareAccentList"/>
    <dgm:cxn modelId="{45D38C1C-EFC1-4F42-9B55-D963A2525D93}" type="presParOf" srcId="{3A80BCD5-52A0-4828-A809-76B7B7862229}" destId="{36DEC363-524D-4561-908A-5EC4EF8C1E6D}" srcOrd="0" destOrd="0" presId="urn:microsoft.com/office/officeart/2008/layout/SquareAccentList"/>
    <dgm:cxn modelId="{4ECD431C-D559-4090-9561-91BF5CFD81DC}" type="presParOf" srcId="{3A80BCD5-52A0-4828-A809-76B7B7862229}" destId="{FA903836-17FC-4554-B59C-42AEB4099400}" srcOrd="1" destOrd="0" presId="urn:microsoft.com/office/officeart/2008/layout/SquareAccentList"/>
    <dgm:cxn modelId="{0564390E-731C-475B-AA91-CAB9E40A3AFC}" type="presParOf" srcId="{659AA02D-247E-44D0-B686-CB5285C320C5}" destId="{BBE97843-A793-4C9E-951D-D6B9BF5C9E54}" srcOrd="1" destOrd="0" presId="urn:microsoft.com/office/officeart/2008/layout/SquareAccentList"/>
    <dgm:cxn modelId="{C3090575-E098-4244-BB36-D7F7BE3F8C93}" type="presParOf" srcId="{BBE97843-A793-4C9E-951D-D6B9BF5C9E54}" destId="{5763965D-1049-414B-8810-7E2C45D67ECC}" srcOrd="0" destOrd="0" presId="urn:microsoft.com/office/officeart/2008/layout/SquareAccentList"/>
    <dgm:cxn modelId="{CA5509DF-3F39-4E23-91C0-154EECE158F8}" type="presParOf" srcId="{BBE97843-A793-4C9E-951D-D6B9BF5C9E54}" destId="{1540C454-32D8-44D7-8B9F-A3858EB73D0E}" srcOrd="1" destOrd="0" presId="urn:microsoft.com/office/officeart/2008/layout/Squa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9385B7-4DBD-438C-8FE3-AF06DB0B7A5C}">
      <dsp:nvSpPr>
        <dsp:cNvPr id="0" name=""/>
        <dsp:cNvSpPr/>
      </dsp:nvSpPr>
      <dsp:spPr>
        <a:xfrm>
          <a:off x="1825"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F612AE-0252-40F9-AA06-DC466B01707C}">
      <dsp:nvSpPr>
        <dsp:cNvPr id="0" name=""/>
        <dsp:cNvSpPr/>
      </dsp:nvSpPr>
      <dsp:spPr>
        <a:xfrm>
          <a:off x="1825"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CD9B2A-8769-4963-AA7F-6A0C29B4FFF1}">
      <dsp:nvSpPr>
        <dsp:cNvPr id="0" name=""/>
        <dsp:cNvSpPr/>
      </dsp:nvSpPr>
      <dsp:spPr>
        <a:xfrm>
          <a:off x="1825"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Scale Beyond Pilot Implementation</a:t>
          </a:r>
        </a:p>
      </dsp:txBody>
      <dsp:txXfrm>
        <a:off x="1825" y="0"/>
        <a:ext cx="3578612" cy="756316"/>
      </dsp:txXfrm>
    </dsp:sp>
    <dsp:sp modelId="{F99323EA-3004-4402-8F83-5ECED4762AE5}">
      <dsp:nvSpPr>
        <dsp:cNvPr id="0" name=""/>
        <dsp:cNvSpPr/>
      </dsp:nvSpPr>
      <dsp:spPr>
        <a:xfrm>
          <a:off x="1825"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32BD51-9B3C-4916-A6EB-D793BBB4E850}">
      <dsp:nvSpPr>
        <dsp:cNvPr id="0" name=""/>
        <dsp:cNvSpPr/>
      </dsp:nvSpPr>
      <dsp:spPr>
        <a:xfrm>
          <a:off x="252328"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Move beyond pilot efforts toward structured AI integration strategies</a:t>
          </a:r>
        </a:p>
      </dsp:txBody>
      <dsp:txXfrm>
        <a:off x="252328" y="1352284"/>
        <a:ext cx="3328109" cy="612800"/>
      </dsp:txXfrm>
    </dsp:sp>
    <dsp:sp modelId="{814BB851-51AE-4B5A-AA27-AA8725E890A0}">
      <dsp:nvSpPr>
        <dsp:cNvPr id="0" name=""/>
        <dsp:cNvSpPr/>
      </dsp:nvSpPr>
      <dsp:spPr>
        <a:xfrm>
          <a:off x="1825"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5652FB-C854-413E-940E-9D91024AD1F7}">
      <dsp:nvSpPr>
        <dsp:cNvPr id="0" name=""/>
        <dsp:cNvSpPr/>
      </dsp:nvSpPr>
      <dsp:spPr>
        <a:xfrm>
          <a:off x="252328"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Mature adoption demonstrated stronger business outcomes</a:t>
          </a:r>
        </a:p>
      </dsp:txBody>
      <dsp:txXfrm>
        <a:off x="252328" y="1965084"/>
        <a:ext cx="3328109" cy="612800"/>
      </dsp:txXfrm>
    </dsp:sp>
    <dsp:sp modelId="{064B4E41-CAAC-4C38-A49F-5333C7B8CE70}">
      <dsp:nvSpPr>
        <dsp:cNvPr id="0" name=""/>
        <dsp:cNvSpPr/>
      </dsp:nvSpPr>
      <dsp:spPr>
        <a:xfrm>
          <a:off x="3759368"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D5510A-2DAD-494A-8F45-B9B32CE8B5E1}">
      <dsp:nvSpPr>
        <dsp:cNvPr id="0" name=""/>
        <dsp:cNvSpPr/>
      </dsp:nvSpPr>
      <dsp:spPr>
        <a:xfrm>
          <a:off x="3759368"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6D977F-E5CD-42D8-B8CD-BA2AC750972B}">
      <dsp:nvSpPr>
        <dsp:cNvPr id="0" name=""/>
        <dsp:cNvSpPr/>
      </dsp:nvSpPr>
      <dsp:spPr>
        <a:xfrm>
          <a:off x="3759368"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Prioritize Workforce Transformation</a:t>
          </a:r>
        </a:p>
      </dsp:txBody>
      <dsp:txXfrm>
        <a:off x="3759368" y="0"/>
        <a:ext cx="3578612" cy="756316"/>
      </dsp:txXfrm>
    </dsp:sp>
    <dsp:sp modelId="{1498DD5A-EC0F-444D-9BD0-9A4B15BC82D1}">
      <dsp:nvSpPr>
        <dsp:cNvPr id="0" name=""/>
        <dsp:cNvSpPr/>
      </dsp:nvSpPr>
      <dsp:spPr>
        <a:xfrm>
          <a:off x="3759368"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ACA282-2398-493D-A64B-BCA36DFCD99B}">
      <dsp:nvSpPr>
        <dsp:cNvPr id="0" name=""/>
        <dsp:cNvSpPr/>
      </dsp:nvSpPr>
      <dsp:spPr>
        <a:xfrm>
          <a:off x="4009871"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Integrate reskilling into AI adoption plans</a:t>
          </a:r>
        </a:p>
      </dsp:txBody>
      <dsp:txXfrm>
        <a:off x="4009871" y="1352284"/>
        <a:ext cx="3328109" cy="612800"/>
      </dsp:txXfrm>
    </dsp:sp>
    <dsp:sp modelId="{9D762747-99EA-435D-AFCE-0A91873E4F44}">
      <dsp:nvSpPr>
        <dsp:cNvPr id="0" name=""/>
        <dsp:cNvSpPr/>
      </dsp:nvSpPr>
      <dsp:spPr>
        <a:xfrm>
          <a:off x="3759368"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C9F4C8-4D85-4C6F-9A4F-FF40D0DCE643}">
      <dsp:nvSpPr>
        <dsp:cNvPr id="0" name=""/>
        <dsp:cNvSpPr/>
      </dsp:nvSpPr>
      <dsp:spPr>
        <a:xfrm>
          <a:off x="4009871"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Reskilling represented the largest workforce response across company sizes</a:t>
          </a:r>
        </a:p>
      </dsp:txBody>
      <dsp:txXfrm>
        <a:off x="4009871" y="1965084"/>
        <a:ext cx="3328109" cy="612800"/>
      </dsp:txXfrm>
    </dsp:sp>
    <dsp:sp modelId="{62983734-7DE0-4908-84B7-06DB4D60B87A}">
      <dsp:nvSpPr>
        <dsp:cNvPr id="0" name=""/>
        <dsp:cNvSpPr/>
      </dsp:nvSpPr>
      <dsp:spPr>
        <a:xfrm>
          <a:off x="7516911"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8CC828-5743-4CAC-8EA7-0136619E175B}">
      <dsp:nvSpPr>
        <dsp:cNvPr id="0" name=""/>
        <dsp:cNvSpPr/>
      </dsp:nvSpPr>
      <dsp:spPr>
        <a:xfrm>
          <a:off x="7516911"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787BA8-8030-467B-BEE0-64C8790FCFB7}">
      <dsp:nvSpPr>
        <dsp:cNvPr id="0" name=""/>
        <dsp:cNvSpPr/>
      </dsp:nvSpPr>
      <dsp:spPr>
        <a:xfrm>
          <a:off x="7516911"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Target Adoption Gaps</a:t>
          </a:r>
        </a:p>
      </dsp:txBody>
      <dsp:txXfrm>
        <a:off x="7516911" y="0"/>
        <a:ext cx="3578612" cy="756316"/>
      </dsp:txXfrm>
    </dsp:sp>
    <dsp:sp modelId="{36DEC363-524D-4561-908A-5EC4EF8C1E6D}">
      <dsp:nvSpPr>
        <dsp:cNvPr id="0" name=""/>
        <dsp:cNvSpPr/>
      </dsp:nvSpPr>
      <dsp:spPr>
        <a:xfrm>
          <a:off x="7516911"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903836-17FC-4554-B59C-42AEB4099400}">
      <dsp:nvSpPr>
        <dsp:cNvPr id="0" name=""/>
        <dsp:cNvSpPr/>
      </dsp:nvSpPr>
      <dsp:spPr>
        <a:xfrm>
          <a:off x="7767414"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Identify and address barriers limiting AI maturity</a:t>
          </a:r>
        </a:p>
      </dsp:txBody>
      <dsp:txXfrm>
        <a:off x="7767414" y="1352284"/>
        <a:ext cx="3328109" cy="612800"/>
      </dsp:txXfrm>
    </dsp:sp>
    <dsp:sp modelId="{5763965D-1049-414B-8810-7E2C45D67ECC}">
      <dsp:nvSpPr>
        <dsp:cNvPr id="0" name=""/>
        <dsp:cNvSpPr/>
      </dsp:nvSpPr>
      <dsp:spPr>
        <a:xfrm>
          <a:off x="7516911"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40C454-32D8-44D7-8B9F-A3858EB73D0E}">
      <dsp:nvSpPr>
        <dsp:cNvPr id="0" name=""/>
        <dsp:cNvSpPr/>
      </dsp:nvSpPr>
      <dsp:spPr>
        <a:xfrm>
          <a:off x="7767414"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Successful adoption requires aligning technology, processes, and workforce readiness</a:t>
          </a:r>
        </a:p>
      </dsp:txBody>
      <dsp:txXfrm>
        <a:off x="7767414" y="1965084"/>
        <a:ext cx="3328109" cy="612800"/>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6B24-4B47-4CBB-A1F4-8E5735CF3BA4}"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C6C8B-BE8F-47B7-AB4D-01360EFA917A}" type="slidenum">
              <a:rPr lang="en-US" smtClean="0"/>
              <a:t>‹#›</a:t>
            </a:fld>
            <a:endParaRPr lang="en-US"/>
          </a:p>
        </p:txBody>
      </p:sp>
    </p:spTree>
    <p:extLst>
      <p:ext uri="{BB962C8B-B14F-4D97-AF65-F5344CB8AC3E}">
        <p14:creationId xmlns:p14="http://schemas.microsoft.com/office/powerpoint/2010/main" val="3956522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About Dataset</a:t>
            </a:r>
          </a:p>
          <a:p>
            <a:pPr fontAlgn="base"/>
            <a:r>
              <a:rPr lang="en-US" sz="1200" b="1" i="0" kern="1200" dirty="0">
                <a:solidFill>
                  <a:schemeClr val="tx1"/>
                </a:solidFill>
                <a:effectLst/>
                <a:latin typeface="+mn-lt"/>
                <a:ea typeface="+mn-ea"/>
                <a:cs typeface="+mn-cs"/>
              </a:rPr>
              <a:t>Global AI Adoption &amp; Workforce Impact Dataset</a:t>
            </a:r>
          </a:p>
          <a:p>
            <a:pPr fontAlgn="base"/>
            <a:r>
              <a:rPr lang="en-US" sz="1200" b="0" i="0" kern="1200" dirty="0">
                <a:solidFill>
                  <a:schemeClr val="tx1"/>
                </a:solidFill>
                <a:effectLst/>
                <a:latin typeface="+mn-lt"/>
                <a:ea typeface="+mn-ea"/>
                <a:cs typeface="+mn-cs"/>
              </a:rPr>
              <a:t>Artificial Intelligence adoption is rapidly transforming how organizations operate, automate tasks, and reshape their workforce. Understanding the relationship between AI adoption, productivity, governance, and workforce changes is critical for researchers, analysts, and policy makers.</a:t>
            </a:r>
          </a:p>
          <a:p>
            <a:pPr fontAlgn="base"/>
            <a:r>
              <a:rPr lang="en-US" sz="1200" b="0" i="0" kern="1200" dirty="0">
                <a:solidFill>
                  <a:schemeClr val="tx1"/>
                </a:solidFill>
                <a:effectLst/>
                <a:latin typeface="+mn-lt"/>
                <a:ea typeface="+mn-ea"/>
                <a:cs typeface="+mn-cs"/>
              </a:rPr>
              <a:t>This dataset provides a structured view of how companies across industries and countries adopt AI technologies and how those decisions affect productivity, workforce dynamics, and operational outcomes.</a:t>
            </a:r>
          </a:p>
          <a:p>
            <a:pPr fontAlgn="base"/>
            <a:r>
              <a:rPr lang="en-US" sz="1200" b="0" i="0" kern="1200" dirty="0">
                <a:solidFill>
                  <a:schemeClr val="tx1"/>
                </a:solidFill>
                <a:effectLst/>
                <a:latin typeface="+mn-lt"/>
                <a:ea typeface="+mn-ea"/>
                <a:cs typeface="+mn-cs"/>
              </a:rPr>
              <a:t>The dataset captures company-level indicators including AI adoption stage, AI investments, automation rates, workforce changes, governance practices, and business performance metrics. It also includes macro-level country indicators that influence digital transformation and AI adoption patterns.</a:t>
            </a:r>
          </a:p>
          <a:p>
            <a:pPr fontAlgn="base"/>
            <a:r>
              <a:rPr lang="en-US" sz="1200" b="0" i="0" kern="1200" dirty="0">
                <a:solidFill>
                  <a:schemeClr val="tx1"/>
                </a:solidFill>
                <a:effectLst/>
                <a:latin typeface="+mn-lt"/>
                <a:ea typeface="+mn-ea"/>
                <a:cs typeface="+mn-cs"/>
              </a:rPr>
              <a:t>The dataset was constructed by aggregating patterns observed in global technology adoption reports, digital transformation studies, workforce analytics publications, and AI governance frameworks. Company characteristics, adoption behavior, workforce impact, productivity changes, and innovation indicators were modeled to reflect realistic organizational behavior across industries and regions.</a:t>
            </a:r>
          </a:p>
          <a:p>
            <a:pPr fontAlgn="base"/>
            <a:r>
              <a:rPr lang="en-US" sz="1200" b="0" i="0" kern="1200" dirty="0">
                <a:solidFill>
                  <a:schemeClr val="tx1"/>
                </a:solidFill>
                <a:effectLst/>
                <a:latin typeface="+mn-lt"/>
                <a:ea typeface="+mn-ea"/>
                <a:cs typeface="+mn-cs"/>
              </a:rPr>
              <a:t>Role distributions, investment levels, automation rates, and workforce adjustments follow structured statistical distributions designed to resemble real-world enterprise analytics datasets. Country-level indicators such as digital maturity, internet penetration, and AI research intensity were modeled to reflect global technology ecosystems.</a:t>
            </a:r>
          </a:p>
          <a:p>
            <a:pPr fontAlgn="base"/>
            <a:r>
              <a:rPr lang="en-US" sz="1200" b="0" i="0" kern="1200" dirty="0">
                <a:solidFill>
                  <a:schemeClr val="tx1"/>
                </a:solidFill>
                <a:effectLst/>
                <a:latin typeface="+mn-lt"/>
                <a:ea typeface="+mn-ea"/>
                <a:cs typeface="+mn-cs"/>
              </a:rPr>
              <a:t>The dataset is fully structured, cleaned, and formatted as tabular CSV files ready for:</a:t>
            </a:r>
          </a:p>
          <a:p>
            <a:pPr fontAlgn="base"/>
            <a:r>
              <a:rPr lang="en-US" sz="1200" b="0" i="0" kern="1200" dirty="0">
                <a:solidFill>
                  <a:schemeClr val="tx1"/>
                </a:solidFill>
                <a:effectLst/>
                <a:latin typeface="+mn-lt"/>
                <a:ea typeface="+mn-ea"/>
                <a:cs typeface="+mn-cs"/>
              </a:rPr>
              <a:t>Exploratory Data Analysis (EDA)</a:t>
            </a:r>
          </a:p>
          <a:p>
            <a:pPr fontAlgn="base"/>
            <a:r>
              <a:rPr lang="en-US" sz="1200" b="0" i="0" kern="1200" dirty="0">
                <a:solidFill>
                  <a:schemeClr val="tx1"/>
                </a:solidFill>
                <a:effectLst/>
                <a:latin typeface="+mn-lt"/>
                <a:ea typeface="+mn-ea"/>
                <a:cs typeface="+mn-cs"/>
              </a:rPr>
              <a:t>Data visualization</a:t>
            </a:r>
          </a:p>
          <a:p>
            <a:pPr fontAlgn="base"/>
            <a:r>
              <a:rPr lang="en-US" sz="1200" b="0" i="0" kern="1200" dirty="0">
                <a:solidFill>
                  <a:schemeClr val="tx1"/>
                </a:solidFill>
                <a:effectLst/>
                <a:latin typeface="+mn-lt"/>
                <a:ea typeface="+mn-ea"/>
                <a:cs typeface="+mn-cs"/>
              </a:rPr>
              <a:t>Machine learning experiments</a:t>
            </a:r>
          </a:p>
          <a:p>
            <a:pPr fontAlgn="base"/>
            <a:r>
              <a:rPr lang="en-US" sz="1200" b="0" i="0" kern="1200" dirty="0">
                <a:solidFill>
                  <a:schemeClr val="tx1"/>
                </a:solidFill>
                <a:effectLst/>
                <a:latin typeface="+mn-lt"/>
                <a:ea typeface="+mn-ea"/>
                <a:cs typeface="+mn-cs"/>
              </a:rPr>
              <a:t>Business analytics projects</a:t>
            </a:r>
          </a:p>
          <a:p>
            <a:pPr fontAlgn="base"/>
            <a:r>
              <a:rPr lang="en-US" sz="1200" b="0" i="0" kern="1200" dirty="0">
                <a:solidFill>
                  <a:schemeClr val="tx1"/>
                </a:solidFill>
                <a:effectLst/>
                <a:latin typeface="+mn-lt"/>
                <a:ea typeface="+mn-ea"/>
                <a:cs typeface="+mn-cs"/>
              </a:rPr>
              <a:t>AI adoption research</a:t>
            </a:r>
          </a:p>
          <a:p>
            <a:pPr fontAlgn="base"/>
            <a:r>
              <a:rPr lang="en-US" sz="1200" b="0" i="0" kern="1200" dirty="0">
                <a:solidFill>
                  <a:schemeClr val="tx1"/>
                </a:solidFill>
                <a:effectLst/>
                <a:latin typeface="+mn-lt"/>
                <a:ea typeface="+mn-ea"/>
                <a:cs typeface="+mn-cs"/>
              </a:rPr>
              <a:t>The dataset includes multiple related tables designed for relational analysis and scalable analytical workflows.</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3</a:t>
            </a:fld>
            <a:endParaRPr lang="en-US"/>
          </a:p>
        </p:txBody>
      </p:sp>
    </p:spTree>
    <p:extLst>
      <p:ext uri="{BB962C8B-B14F-4D97-AF65-F5344CB8AC3E}">
        <p14:creationId xmlns:p14="http://schemas.microsoft.com/office/powerpoint/2010/main" val="247533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initial analysis establishes the AI adoption landscape before evaluating business outcomes. The dataset shows variation across both industries and countries, with Technology and Finance reporting the highest average AI adoption rates. These differences provide important context because adoption alone does not necessarily indicate success. The following analysis evaluates whether higher AI adoption and maturity are associated with measurable outcomes such as productivity improvements, revenue growth, and workforce changes.</a:t>
            </a:r>
          </a:p>
          <a:p>
            <a:endParaRPr lang="en-US" dirty="0"/>
          </a:p>
          <a:p>
            <a:r>
              <a:rPr lang="en-US" dirty="0"/>
              <a:t>The choropleth aggregates company-level survey responses into country-level averages. Each country's color represents the mean AI adoption rate reported by organizations located in that country, allowing comparison of AI adoption intensity independent of the number of surveyed companies.</a:t>
            </a:r>
          </a:p>
          <a:p>
            <a:r>
              <a:rPr lang="en-US" dirty="0"/>
              <a:t>Shading represents the average AI adoption rate of organizations in that country, not the total number of AI companies</a:t>
            </a:r>
          </a:p>
          <a:p>
            <a:r>
              <a:rPr lang="en-US" dirty="0"/>
              <a:t>Study includes 30 countries and 9 industries</a:t>
            </a:r>
          </a:p>
          <a:p>
            <a:endParaRPr lang="en-US" dirty="0"/>
          </a:p>
          <a:p>
            <a:r>
              <a:rPr lang="en-US" dirty="0"/>
              <a:t>Geographic lens → where surveyed companies show higher adoption rates</a:t>
            </a:r>
          </a:p>
          <a:p>
            <a:r>
              <a:rPr lang="en-US" dirty="0"/>
              <a:t> Industry lens → which sectors show higher adoption rates</a:t>
            </a:r>
          </a:p>
        </p:txBody>
      </p:sp>
      <p:sp>
        <p:nvSpPr>
          <p:cNvPr id="4" name="Slide Number Placeholder 3"/>
          <p:cNvSpPr>
            <a:spLocks noGrp="1"/>
          </p:cNvSpPr>
          <p:nvPr>
            <p:ph type="sldNum" sz="quarter" idx="5"/>
          </p:nvPr>
        </p:nvSpPr>
        <p:spPr/>
        <p:txBody>
          <a:bodyPr/>
          <a:lstStyle/>
          <a:p>
            <a:fld id="{EFEC6C8B-BE8F-47B7-AB4D-01360EFA917A}" type="slidenum">
              <a:rPr lang="en-US" smtClean="0"/>
              <a:t>4</a:t>
            </a:fld>
            <a:endParaRPr lang="en-US"/>
          </a:p>
        </p:txBody>
      </p:sp>
    </p:spTree>
    <p:extLst>
      <p:ext uri="{BB962C8B-B14F-4D97-AF65-F5344CB8AC3E}">
        <p14:creationId xmlns:p14="http://schemas.microsoft.com/office/powerpoint/2010/main" val="523487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Key Finding: AI maturity was strongly associated with improved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Interesting points: While evaluating correlation, it was observed that cost reduction did not have any strong correlation. The data shows that companies are moderately seeing revenue growth and cost reduction but Productivity changes are huge. Future studies may show different results as less investment in training and baselining is required. </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5</a:t>
            </a:fld>
            <a:endParaRPr lang="en-US"/>
          </a:p>
        </p:txBody>
      </p:sp>
    </p:spTree>
    <p:extLst>
      <p:ext uri="{BB962C8B-B14F-4D97-AF65-F5344CB8AC3E}">
        <p14:creationId xmlns:p14="http://schemas.microsoft.com/office/powerpoint/2010/main" val="4196799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p:cNvSpPr>
            <a:spLocks noGrp="1"/>
          </p:cNvSpPr>
          <p:nvPr>
            <p:ph type="sldNum" sz="quarter" idx="5"/>
          </p:nvPr>
        </p:nvSpPr>
        <p:spPr/>
        <p:txBody>
          <a:bodyPr/>
          <a:lstStyle/>
          <a:p>
            <a:fld id="{EFEC6C8B-BE8F-47B7-AB4D-01360EFA917A}" type="slidenum">
              <a:rPr lang="en-US" smtClean="0"/>
              <a:t>6</a:t>
            </a:fld>
            <a:endParaRPr lang="en-US"/>
          </a:p>
        </p:txBody>
      </p:sp>
    </p:spTree>
    <p:extLst>
      <p:ext uri="{BB962C8B-B14F-4D97-AF65-F5344CB8AC3E}">
        <p14:creationId xmlns:p14="http://schemas.microsoft.com/office/powerpoint/2010/main" val="50676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D2C7-1A2E-B73E-D818-57D009B2E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FC4C4-B93B-6F6C-793A-30ED3B5D9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D28FD-5508-BCA9-7FE2-B3AC1439C510}"/>
              </a:ext>
            </a:extLst>
          </p:cNvPr>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a:extLst>
              <a:ext uri="{FF2B5EF4-FFF2-40B4-BE49-F238E27FC236}">
                <a16:creationId xmlns:a16="http://schemas.microsoft.com/office/drawing/2014/main" id="{8411F325-4CE2-C9B0-AE79-3A19CF0F5067}"/>
              </a:ext>
            </a:extLst>
          </p:cNvPr>
          <p:cNvSpPr>
            <a:spLocks noGrp="1"/>
          </p:cNvSpPr>
          <p:nvPr>
            <p:ph type="sldNum" sz="quarter" idx="5"/>
          </p:nvPr>
        </p:nvSpPr>
        <p:spPr/>
        <p:txBody>
          <a:bodyPr/>
          <a:lstStyle/>
          <a:p>
            <a:fld id="{EFEC6C8B-BE8F-47B7-AB4D-01360EFA917A}" type="slidenum">
              <a:rPr lang="en-US" smtClean="0"/>
              <a:t>7</a:t>
            </a:fld>
            <a:endParaRPr lang="en-US"/>
          </a:p>
        </p:txBody>
      </p:sp>
    </p:spTree>
    <p:extLst>
      <p:ext uri="{BB962C8B-B14F-4D97-AF65-F5344CB8AC3E}">
        <p14:creationId xmlns:p14="http://schemas.microsoft.com/office/powerpoint/2010/main" val="321929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A121-B9BD-154B-3D39-EA594A1F9D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F0A1ED-8C66-FE50-B6D3-23D8CFE219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3169D-3DC8-4488-5BD2-C434E3DC87B1}"/>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D3A089B9-1F2F-4605-4617-FFB2D8A6A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D4CDB-D951-616A-BC8A-24F4EDA90D3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1456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6765-0F5F-E2AE-EABE-4AA90CA15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33386-26FF-54CC-EB8D-60D6CAB0AF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FFE4-8814-461E-6825-C9375484B48D}"/>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6DD388C-FDFC-ED33-C5A2-E8EE36EDB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AF903-7BC8-E900-7D90-DD6FB9DD171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5719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AC44-0100-D0F6-C575-3D45AF5051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B99246-4EA1-943B-E16B-F543E1FAA5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40A43-7263-E156-7EAA-991F6EA4AA8C}"/>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CBE455F0-5F5B-A5BB-3370-4A1A954AAA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B76E0-A662-322D-1455-3B070394465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5583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91B8-4DF4-6E73-BA20-C109278C53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050DD9-521C-DB14-A176-C135D417D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AF0CF1-9138-3E7B-0176-BB6C9FD93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3F4F4-04DC-22C8-C1D3-4B3E22504893}"/>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734258EE-B10D-D436-C934-FB5C5A4F7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66F4E-EA83-6B1A-7D9C-EAF911C626E7}"/>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29690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5B3F-1D6F-165A-94D7-A2AB749BC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6536B6-0FB7-BFAB-BBDD-D4945F1F6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7B452-FA8C-86D4-2C69-5C816B28B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CB5F54-8D8C-BE02-CB2A-A9EBAE8A1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821AC-9D19-CE90-1A8D-2CAEDB707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93D574-7510-60B5-25BA-2D215E3E0103}"/>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8" name="Footer Placeholder 7">
            <a:extLst>
              <a:ext uri="{FF2B5EF4-FFF2-40B4-BE49-F238E27FC236}">
                <a16:creationId xmlns:a16="http://schemas.microsoft.com/office/drawing/2014/main" id="{546B80DA-3035-0E81-A13D-C39B986948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455A51-A945-B35A-A73D-0A15CC77B8DF}"/>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36543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17D0-8171-4DEF-971B-60AC1A33F2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E4ED8E-E432-D530-4A73-C96028924308}"/>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4" name="Footer Placeholder 3">
            <a:extLst>
              <a:ext uri="{FF2B5EF4-FFF2-40B4-BE49-F238E27FC236}">
                <a16:creationId xmlns:a16="http://schemas.microsoft.com/office/drawing/2014/main" id="{291CAD3E-5E4D-D4C3-F1B6-242BCF5379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D7994B-5170-8C2F-F3F4-EEAF954C1FF2}"/>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78198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A47F4-28C4-1109-B9CF-4E9E72D1073F}"/>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3" name="Footer Placeholder 2">
            <a:extLst>
              <a:ext uri="{FF2B5EF4-FFF2-40B4-BE49-F238E27FC236}">
                <a16:creationId xmlns:a16="http://schemas.microsoft.com/office/drawing/2014/main" id="{6FAA2A3E-B357-0911-B4FE-D8F7E1916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8E864-C3FD-89AA-F55B-F43CE8F40D0B}"/>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10393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DF5B-5F61-7D4F-4190-AC2F8A2AA9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D85FBE-F7BA-8F36-9349-DB2A73798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485A55-9A27-2BCA-AD26-FE6883555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5FD2F-EBCD-4166-073F-681D7F22CA87}"/>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D854B29A-DCF8-01C7-0825-0551FFB4A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E30173-31FA-86E1-2F4F-9A7866CC54BE}"/>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60712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0C07-0AF5-2D83-BD66-A1BC986A0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4D815D-F648-B77D-FD6B-AD12106A9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DB45FD-8576-6629-C381-B672459D8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5234D3-57E6-C1ED-D72D-769652DF22B1}"/>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D872D58B-01E9-1E1F-645C-165DED6CA5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21000-6090-2964-A5CE-901F8950A2B6}"/>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61132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057F-DF19-D999-CB3E-56050D91F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5F87A0-20DA-EE4F-92DF-AFCDF2F9A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A4C42C-D354-A1C5-A8E3-D61AC1E87930}"/>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E64785B-46D4-4B3D-9418-303892BE7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5F32B-871D-9355-E4B3-D0989619D1D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1999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47811-F310-41DD-8963-BA93AA0928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723A0-E878-4310-C943-142B20D4F1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CCBD6-AA21-9F8A-2C5F-821FBD3965DF}"/>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0E19361-9A88-8A1A-93F8-EEDAE8074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14976-23EC-3E03-0972-049B0D2E188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40847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382B9-CD85-2324-767C-A089BFCF3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3E238-D560-5D08-C1E0-3506BE9BE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B72DD-A488-FDE7-F964-184DE7EC47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4C8FA332-543C-6F57-45AA-ACF375316E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C60812-A2BF-DD0D-7C73-ECEE32084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4C46F-8080-4C31-9119-FFFC8B91DB26}" type="slidenum">
              <a:rPr lang="en-US" smtClean="0"/>
              <a:t>‹#›</a:t>
            </a:fld>
            <a:endParaRPr lang="en-US"/>
          </a:p>
        </p:txBody>
      </p:sp>
    </p:spTree>
    <p:extLst>
      <p:ext uri="{BB962C8B-B14F-4D97-AF65-F5344CB8AC3E}">
        <p14:creationId xmlns:p14="http://schemas.microsoft.com/office/powerpoint/2010/main" val="3174791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Digital map with light leak background">
            <a:extLst>
              <a:ext uri="{FF2B5EF4-FFF2-40B4-BE49-F238E27FC236}">
                <a16:creationId xmlns:a16="http://schemas.microsoft.com/office/drawing/2014/main" id="{251DEF39-0BA0-63B0-7596-4B7CBF670F41}"/>
              </a:ext>
            </a:extLst>
          </p:cNvPr>
          <p:cNvPicPr>
            <a:picLocks noChangeAspect="1"/>
          </p:cNvPicPr>
          <p:nvPr/>
        </p:nvPicPr>
        <p:blipFill>
          <a:blip r:embed="rId2"/>
          <a:srcRect l="2942" r="2941" b="-1"/>
          <a:stretch>
            <a:fillRect/>
          </a:stretch>
        </p:blipFill>
        <p:spPr>
          <a:xfrm>
            <a:off x="2522358" y="10"/>
            <a:ext cx="9669642" cy="6857990"/>
          </a:xfrm>
          <a:prstGeom prst="rect">
            <a:avLst/>
          </a:prstGeom>
        </p:spPr>
      </p:pic>
      <p:sp>
        <p:nvSpPr>
          <p:cNvPr id="60" name="Rectangle 5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8AD308-938A-DEC8-A051-29B7DEEF87A0}"/>
              </a:ext>
            </a:extLst>
          </p:cNvPr>
          <p:cNvSpPr>
            <a:spLocks noGrp="1"/>
          </p:cNvSpPr>
          <p:nvPr>
            <p:ph type="ctrTitle"/>
          </p:nvPr>
        </p:nvSpPr>
        <p:spPr>
          <a:xfrm>
            <a:off x="952228" y="743447"/>
            <a:ext cx="3973385" cy="3692028"/>
          </a:xfrm>
          <a:noFill/>
        </p:spPr>
        <p:txBody>
          <a:bodyPr>
            <a:normAutofit/>
          </a:bodyPr>
          <a:lstStyle/>
          <a:p>
            <a:pPr algn="l"/>
            <a:r>
              <a:rPr lang="en-US" sz="4000" b="1"/>
              <a:t>Global AI Adoption &amp; Workforce Impact Analysis</a:t>
            </a:r>
            <a:br>
              <a:rPr lang="en-US" sz="4000" b="1"/>
            </a:br>
            <a:endParaRPr lang="en-US" sz="4000"/>
          </a:p>
        </p:txBody>
      </p:sp>
      <p:sp>
        <p:nvSpPr>
          <p:cNvPr id="3" name="Subtitle 2">
            <a:extLst>
              <a:ext uri="{FF2B5EF4-FFF2-40B4-BE49-F238E27FC236}">
                <a16:creationId xmlns:a16="http://schemas.microsoft.com/office/drawing/2014/main" id="{91D723F8-6F5A-81DF-D76F-002707C26CD3}"/>
              </a:ext>
            </a:extLst>
          </p:cNvPr>
          <p:cNvSpPr>
            <a:spLocks noGrp="1"/>
          </p:cNvSpPr>
          <p:nvPr>
            <p:ph type="subTitle" idx="1"/>
          </p:nvPr>
        </p:nvSpPr>
        <p:spPr>
          <a:xfrm>
            <a:off x="952229" y="4629234"/>
            <a:ext cx="3973386" cy="1485319"/>
          </a:xfrm>
          <a:noFill/>
        </p:spPr>
        <p:txBody>
          <a:bodyPr>
            <a:normAutofit/>
          </a:bodyPr>
          <a:lstStyle/>
          <a:p>
            <a:pPr algn="l"/>
            <a:r>
              <a:rPr lang="en-US" sz="2000" dirty="0"/>
              <a:t>Sara Shockley</a:t>
            </a:r>
          </a:p>
          <a:p>
            <a:pPr algn="l"/>
            <a:r>
              <a:rPr lang="en-US" sz="2000" dirty="0"/>
              <a:t>Supra Coder DDI Apr2026 Cohort</a:t>
            </a:r>
          </a:p>
          <a:p>
            <a:pPr algn="l"/>
            <a:r>
              <a:rPr lang="en-US" sz="2000" dirty="0"/>
              <a:t>CAO: 09JUN26</a:t>
            </a:r>
          </a:p>
        </p:txBody>
      </p:sp>
    </p:spTree>
    <p:extLst>
      <p:ext uri="{BB962C8B-B14F-4D97-AF65-F5344CB8AC3E}">
        <p14:creationId xmlns:p14="http://schemas.microsoft.com/office/powerpoint/2010/main" val="165416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7F7A5-2D46-FD8A-1C28-886C37004F09}"/>
              </a:ext>
            </a:extLst>
          </p:cNvPr>
          <p:cNvSpPr>
            <a:spLocks noGrp="1"/>
          </p:cNvSpPr>
          <p:nvPr>
            <p:ph type="title"/>
          </p:nvPr>
        </p:nvSpPr>
        <p:spPr>
          <a:xfrm>
            <a:off x="2187363" y="1671569"/>
            <a:ext cx="5801917" cy="2228760"/>
          </a:xfrm>
        </p:spPr>
        <p:txBody>
          <a:bodyPr anchor="b">
            <a:normAutofit/>
          </a:bodyPr>
          <a:lstStyle/>
          <a:p>
            <a:r>
              <a:rPr lang="en-US" sz="4000"/>
              <a:t>Contents</a:t>
            </a:r>
          </a:p>
        </p:txBody>
      </p:sp>
      <p:pic>
        <p:nvPicPr>
          <p:cNvPr id="22" name="Graphic 21" descr="Head with Gears">
            <a:extLst>
              <a:ext uri="{FF2B5EF4-FFF2-40B4-BE49-F238E27FC236}">
                <a16:creationId xmlns:a16="http://schemas.microsoft.com/office/drawing/2014/main" id="{26EDC712-8DA1-0CC3-05E7-CD13A60AE6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52372ED7-0F37-B7B8-0D36-B362C59DC7E7}"/>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pic>
        <p:nvPicPr>
          <p:cNvPr id="24" name="Graphic 23" descr="Head with Gears">
            <a:extLst>
              <a:ext uri="{FF2B5EF4-FFF2-40B4-BE49-F238E27FC236}">
                <a16:creationId xmlns:a16="http://schemas.microsoft.com/office/drawing/2014/main" id="{BAFE4073-8B51-4CBE-81BD-34981FCC96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472126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690FE-FB84-BC27-A623-2B0C4F9679D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DC3CB-CDD4-2581-FD20-B30D76601A7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000" dirty="0"/>
              <a:t>Study Overview: </a:t>
            </a:r>
            <a:br>
              <a:rPr lang="en-US" sz="3000" dirty="0"/>
            </a:br>
            <a:r>
              <a:rPr lang="en-US" sz="3000" dirty="0"/>
              <a:t>Measuring AI Adoption and Organizational Impact</a:t>
            </a:r>
          </a:p>
        </p:txBody>
      </p:sp>
      <p:sp>
        <p:nvSpPr>
          <p:cNvPr id="3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60ECC35B-21E8-A37F-CE65-8F422F9521E6}"/>
              </a:ext>
            </a:extLst>
          </p:cNvPr>
          <p:cNvSpPr txBox="1">
            <a:spLocks/>
          </p:cNvSpPr>
          <p:nvPr/>
        </p:nvSpPr>
        <p:spPr>
          <a:xfrm>
            <a:off x="340467" y="2742033"/>
            <a:ext cx="7237380" cy="391168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Dataset:</a:t>
            </a:r>
            <a:r>
              <a:rPr lang="en-US" sz="1600" dirty="0"/>
              <a:t> Global AI Adoption &amp; Workforce Impact Dataset (Kaggle)</a:t>
            </a:r>
          </a:p>
          <a:p>
            <a:pPr lvl="1"/>
            <a:r>
              <a:rPr lang="en-US" sz="1300" dirty="0"/>
              <a:t>Company-level data across industries and countries</a:t>
            </a:r>
          </a:p>
          <a:p>
            <a:pPr lvl="1"/>
            <a:r>
              <a:rPr lang="en-US" sz="1300" dirty="0"/>
              <a:t>Includes adoption maturity, workforce, and business metrics</a:t>
            </a:r>
          </a:p>
          <a:p>
            <a:pPr marL="457200" lvl="1" indent="0">
              <a:buNone/>
            </a:pPr>
            <a:endParaRPr lang="en-US" sz="1600" dirty="0"/>
          </a:p>
          <a:p>
            <a:r>
              <a:rPr lang="en-US" sz="1600" b="1" dirty="0"/>
              <a:t>Study Goal: </a:t>
            </a:r>
            <a:r>
              <a:rPr lang="en-US" sz="1600" dirty="0"/>
              <a:t>Analyze AI adoption trends, business outcomes &amp; workforce impact</a:t>
            </a:r>
          </a:p>
          <a:p>
            <a:pPr lvl="1"/>
            <a:r>
              <a:rPr lang="en-US" sz="1300" dirty="0"/>
              <a:t>Compare adoption patterns across industries and regions</a:t>
            </a:r>
          </a:p>
          <a:p>
            <a:pPr lvl="1"/>
            <a:r>
              <a:rPr lang="en-US" sz="1300" dirty="0"/>
              <a:t>Analyze relationships between maturity, workforce, and outcomes</a:t>
            </a:r>
          </a:p>
          <a:p>
            <a:pPr marL="457200" lvl="1" indent="0">
              <a:buNone/>
            </a:pPr>
            <a:endParaRPr lang="en-US" sz="1300" dirty="0"/>
          </a:p>
          <a:p>
            <a:r>
              <a:rPr lang="en-US" sz="1600" b="1" dirty="0"/>
              <a:t>Analytical approach: </a:t>
            </a:r>
          </a:p>
          <a:p>
            <a:pPr lvl="1"/>
            <a:r>
              <a:rPr lang="en-US" sz="1300" dirty="0"/>
              <a:t>Python-based exploratory data analysis</a:t>
            </a:r>
          </a:p>
          <a:p>
            <a:pPr lvl="1"/>
            <a:r>
              <a:rPr lang="en-US" sz="1300" dirty="0"/>
              <a:t>Comparative analysis with correlation testing</a:t>
            </a:r>
          </a:p>
          <a:p>
            <a:pPr marL="457200" lvl="1" indent="0">
              <a:buNone/>
            </a:pPr>
            <a:endParaRPr lang="en-US" sz="1300" dirty="0"/>
          </a:p>
          <a:p>
            <a:r>
              <a:rPr lang="en-US" sz="1600" b="1" dirty="0"/>
              <a:t>Data Considerations and </a:t>
            </a:r>
            <a:r>
              <a:rPr lang="en-US" sz="1600" b="1" dirty="0" err="1"/>
              <a:t>LimFacs</a:t>
            </a:r>
            <a:r>
              <a:rPr lang="en-US" sz="1600" b="1" dirty="0"/>
              <a:t>:</a:t>
            </a:r>
          </a:p>
          <a:p>
            <a:pPr lvl="1"/>
            <a:r>
              <a:rPr lang="en-US" sz="1300" dirty="0"/>
              <a:t>Synthetic dataset designed for analysis and modeling</a:t>
            </a:r>
          </a:p>
          <a:p>
            <a:pPr lvl="1"/>
            <a:r>
              <a:rPr lang="en-US" sz="1300" dirty="0"/>
              <a:t>Findings identify trends, not direct causation</a:t>
            </a:r>
          </a:p>
          <a:p>
            <a:pPr lvl="1"/>
            <a:r>
              <a:rPr lang="en-US" sz="1300" dirty="0"/>
              <a:t>Dataset definitions lack full documentation</a:t>
            </a:r>
            <a:br>
              <a:rPr lang="en-US" sz="1300" dirty="0"/>
            </a:br>
            <a:r>
              <a:rPr lang="en-US" sz="1300" dirty="0"/>
              <a:t> (maturity scoring methodology)</a:t>
            </a:r>
          </a:p>
          <a:p>
            <a:endParaRPr lang="en-US" sz="1600" dirty="0"/>
          </a:p>
          <a:p>
            <a:endParaRPr lang="en-US" sz="1600" dirty="0"/>
          </a:p>
        </p:txBody>
      </p:sp>
      <p:pic>
        <p:nvPicPr>
          <p:cNvPr id="6" name="Picture 5" descr="A digital map">
            <a:extLst>
              <a:ext uri="{FF2B5EF4-FFF2-40B4-BE49-F238E27FC236}">
                <a16:creationId xmlns:a16="http://schemas.microsoft.com/office/drawing/2014/main" id="{3AF2131D-BFAD-3E78-699C-9BA8959FA482}"/>
              </a:ext>
            </a:extLst>
          </p:cNvPr>
          <p:cNvPicPr>
            <a:picLocks noChangeAspect="1"/>
          </p:cNvPicPr>
          <p:nvPr/>
        </p:nvPicPr>
        <p:blipFill>
          <a:blip r:embed="rId3"/>
          <a:srcRect l="27621" r="5426" b="-1"/>
          <a:stretch>
            <a:fillRect/>
          </a:stretch>
        </p:blipFill>
        <p:spPr>
          <a:xfrm>
            <a:off x="7308333" y="10"/>
            <a:ext cx="48821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3620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E06DDA-46D6-E501-36EC-8966E74475A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dirty="0"/>
              <a:t>AI Adoption Landscape </a:t>
            </a:r>
            <a:r>
              <a:rPr lang="en-US" sz="2000" dirty="0"/>
              <a:t>Variation Across Regions and Industries</a:t>
            </a:r>
            <a:endParaRPr lang="en-US" sz="3600" dirty="0"/>
          </a:p>
        </p:txBody>
      </p:sp>
      <p:sp>
        <p:nvSpPr>
          <p:cNvPr id="3" name="Content Placeholder 2">
            <a:extLst>
              <a:ext uri="{FF2B5EF4-FFF2-40B4-BE49-F238E27FC236}">
                <a16:creationId xmlns:a16="http://schemas.microsoft.com/office/drawing/2014/main" id="{29CA610D-5E9C-F79C-6F16-A7B38AF8142A}"/>
              </a:ext>
            </a:extLst>
          </p:cNvPr>
          <p:cNvSpPr>
            <a:spLocks noGrp="1"/>
          </p:cNvSpPr>
          <p:nvPr>
            <p:ph idx="1"/>
          </p:nvPr>
        </p:nvSpPr>
        <p:spPr>
          <a:xfrm>
            <a:off x="6382512" y="498698"/>
            <a:ext cx="4940808" cy="1185353"/>
          </a:xfrm>
        </p:spPr>
        <p:txBody>
          <a:bodyPr vert="horz" lIns="91440" tIns="45720" rIns="91440" bIns="45720" rtlCol="0" anchor="ctr">
            <a:normAutofit/>
          </a:bodyPr>
          <a:lstStyle/>
          <a:p>
            <a:pPr marL="0" indent="0">
              <a:buNone/>
            </a:pPr>
            <a:r>
              <a:rPr lang="en-US" sz="1800" dirty="0"/>
              <a:t>Understanding where AI </a:t>
            </a:r>
            <a:br>
              <a:rPr lang="en-US" sz="1800" dirty="0"/>
            </a:br>
            <a:r>
              <a:rPr lang="en-US" sz="1800" dirty="0"/>
              <a:t>implementation is occurring</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6CD9152-EB5B-853B-2FE1-E0A3AAD03239}"/>
              </a:ext>
            </a:extLst>
          </p:cNvPr>
          <p:cNvSpPr/>
          <p:nvPr/>
        </p:nvSpPr>
        <p:spPr>
          <a:xfrm>
            <a:off x="0" y="2099968"/>
            <a:ext cx="12192000" cy="3867366"/>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A073DEF-9BAD-F67B-3460-32530144D5C7}"/>
              </a:ext>
            </a:extLst>
          </p:cNvPr>
          <p:cNvSpPr/>
          <p:nvPr/>
        </p:nvSpPr>
        <p:spPr>
          <a:xfrm>
            <a:off x="5956188" y="2646727"/>
            <a:ext cx="5140392" cy="29165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A8FFFE-90FB-F66D-266A-E5DF38959F7F}"/>
              </a:ext>
            </a:extLst>
          </p:cNvPr>
          <p:cNvPicPr>
            <a:picLocks noChangeAspect="1"/>
          </p:cNvPicPr>
          <p:nvPr/>
        </p:nvPicPr>
        <p:blipFill>
          <a:blip r:embed="rId3"/>
          <a:srcRect b="3854"/>
          <a:stretch>
            <a:fillRect/>
          </a:stretch>
        </p:blipFill>
        <p:spPr>
          <a:xfrm>
            <a:off x="6003241" y="2416434"/>
            <a:ext cx="5965677" cy="3025612"/>
          </a:xfrm>
          <a:prstGeom prst="rect">
            <a:avLst/>
          </a:prstGeom>
        </p:spPr>
      </p:pic>
      <p:grpSp>
        <p:nvGrpSpPr>
          <p:cNvPr id="9" name="Group 8">
            <a:extLst>
              <a:ext uri="{FF2B5EF4-FFF2-40B4-BE49-F238E27FC236}">
                <a16:creationId xmlns:a16="http://schemas.microsoft.com/office/drawing/2014/main" id="{021F71EF-572C-4257-FF9D-BBD2E9D4D483}"/>
              </a:ext>
            </a:extLst>
          </p:cNvPr>
          <p:cNvGrpSpPr/>
          <p:nvPr/>
        </p:nvGrpSpPr>
        <p:grpSpPr>
          <a:xfrm>
            <a:off x="934360" y="6079948"/>
            <a:ext cx="10331734" cy="597310"/>
            <a:chOff x="1222401" y="5993992"/>
            <a:chExt cx="9978013" cy="403373"/>
          </a:xfrm>
        </p:grpSpPr>
        <p:sp>
          <p:nvSpPr>
            <p:cNvPr id="7" name="Rectangle 6">
              <a:extLst>
                <a:ext uri="{FF2B5EF4-FFF2-40B4-BE49-F238E27FC236}">
                  <a16:creationId xmlns:a16="http://schemas.microsoft.com/office/drawing/2014/main" id="{D3B9B393-56E3-A8D0-6B17-D88F18875878}"/>
                </a:ext>
              </a:extLst>
            </p:cNvPr>
            <p:cNvSpPr/>
            <p:nvPr/>
          </p:nvSpPr>
          <p:spPr>
            <a:xfrm>
              <a:off x="1222401" y="5993992"/>
              <a:ext cx="9978013" cy="395204"/>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A06BF15-B7EE-00BB-2950-27037AB7EE6E}"/>
                </a:ext>
              </a:extLst>
            </p:cNvPr>
            <p:cNvSpPr txBox="1"/>
            <p:nvPr/>
          </p:nvSpPr>
          <p:spPr>
            <a:xfrm>
              <a:off x="1306286" y="6002459"/>
              <a:ext cx="9817239" cy="394906"/>
            </a:xfrm>
            <a:prstGeom prst="rect">
              <a:avLst/>
            </a:prstGeom>
            <a:noFill/>
            <a:ln>
              <a:noFill/>
            </a:ln>
          </p:spPr>
          <p:txBody>
            <a:bodyPr wrap="square" rtlCol="0">
              <a:spAutoFit/>
            </a:bodyPr>
            <a:lstStyle/>
            <a:p>
              <a:r>
                <a:rPr lang="en-US" sz="1600" b="1" dirty="0"/>
                <a:t>Key Finding: </a:t>
              </a:r>
              <a:r>
                <a:rPr lang="en-US" sz="1600" dirty="0"/>
                <a:t>AI adoption showed a broad global footprint with clear industry differences. Technology and Finance led average adoption rates, highlighting variation in AI implementation across sectors.</a:t>
              </a:r>
            </a:p>
          </p:txBody>
        </p:sp>
      </p:grpSp>
      <p:pic>
        <p:nvPicPr>
          <p:cNvPr id="12" name="Picture 11">
            <a:extLst>
              <a:ext uri="{FF2B5EF4-FFF2-40B4-BE49-F238E27FC236}">
                <a16:creationId xmlns:a16="http://schemas.microsoft.com/office/drawing/2014/main" id="{F8A84465-6882-8302-96FF-A5FB4BCE0DE6}"/>
              </a:ext>
            </a:extLst>
          </p:cNvPr>
          <p:cNvPicPr>
            <a:picLocks noChangeAspect="1"/>
          </p:cNvPicPr>
          <p:nvPr/>
        </p:nvPicPr>
        <p:blipFill>
          <a:blip r:embed="rId4"/>
          <a:stretch>
            <a:fillRect/>
          </a:stretch>
        </p:blipFill>
        <p:spPr>
          <a:xfrm>
            <a:off x="558791" y="2588383"/>
            <a:ext cx="5397397" cy="2974943"/>
          </a:xfrm>
          <a:prstGeom prst="rect">
            <a:avLst/>
          </a:prstGeom>
        </p:spPr>
      </p:pic>
      <p:sp>
        <p:nvSpPr>
          <p:cNvPr id="28" name="Left Brace 27">
            <a:extLst>
              <a:ext uri="{FF2B5EF4-FFF2-40B4-BE49-F238E27FC236}">
                <a16:creationId xmlns:a16="http://schemas.microsoft.com/office/drawing/2014/main" id="{CD14936D-F9CA-36B9-BF06-C23B1E526DD6}"/>
              </a:ext>
            </a:extLst>
          </p:cNvPr>
          <p:cNvSpPr/>
          <p:nvPr/>
        </p:nvSpPr>
        <p:spPr>
          <a:xfrm>
            <a:off x="622800" y="3006743"/>
            <a:ext cx="103550" cy="301732"/>
          </a:xfrm>
          <a:prstGeom prst="leftBrace">
            <a:avLst/>
          </a:prstGeom>
          <a:ln>
            <a:solidFill>
              <a:srgbClr val="E9713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8FC4F569-A296-F7AA-6C7A-20C3FE9C9752}"/>
              </a:ext>
            </a:extLst>
          </p:cNvPr>
          <p:cNvSpPr txBox="1"/>
          <p:nvPr/>
        </p:nvSpPr>
        <p:spPr>
          <a:xfrm>
            <a:off x="36481" y="2896151"/>
            <a:ext cx="750157" cy="507831"/>
          </a:xfrm>
          <a:prstGeom prst="rect">
            <a:avLst/>
          </a:prstGeom>
          <a:noFill/>
        </p:spPr>
        <p:txBody>
          <a:bodyPr wrap="square" rtlCol="0">
            <a:spAutoFit/>
          </a:bodyPr>
          <a:lstStyle/>
          <a:p>
            <a:r>
              <a:rPr lang="en-US" sz="900" dirty="0"/>
              <a:t>Early Adoption Leaders</a:t>
            </a:r>
          </a:p>
        </p:txBody>
      </p:sp>
      <p:sp>
        <p:nvSpPr>
          <p:cNvPr id="30" name="TextBox 29">
            <a:extLst>
              <a:ext uri="{FF2B5EF4-FFF2-40B4-BE49-F238E27FC236}">
                <a16:creationId xmlns:a16="http://schemas.microsoft.com/office/drawing/2014/main" id="{6E6DAD5E-0469-A58C-B554-735B4212218A}"/>
              </a:ext>
            </a:extLst>
          </p:cNvPr>
          <p:cNvSpPr txBox="1"/>
          <p:nvPr/>
        </p:nvSpPr>
        <p:spPr>
          <a:xfrm>
            <a:off x="6382512" y="5195824"/>
            <a:ext cx="4553712" cy="246221"/>
          </a:xfrm>
          <a:prstGeom prst="rect">
            <a:avLst/>
          </a:prstGeom>
          <a:noFill/>
        </p:spPr>
        <p:txBody>
          <a:bodyPr wrap="square" rtlCol="0">
            <a:spAutoFit/>
          </a:bodyPr>
          <a:lstStyle/>
          <a:p>
            <a:pPr algn="ctr"/>
            <a:r>
              <a:rPr lang="en-US" sz="1000" i="1" dirty="0"/>
              <a:t>Company-level data aggregated into country averages</a:t>
            </a:r>
          </a:p>
        </p:txBody>
      </p:sp>
      <p:grpSp>
        <p:nvGrpSpPr>
          <p:cNvPr id="11" name="Group 10">
            <a:extLst>
              <a:ext uri="{FF2B5EF4-FFF2-40B4-BE49-F238E27FC236}">
                <a16:creationId xmlns:a16="http://schemas.microsoft.com/office/drawing/2014/main" id="{7BBFAF35-D7E8-BE88-24C9-26E2447F44AB}"/>
              </a:ext>
            </a:extLst>
          </p:cNvPr>
          <p:cNvGrpSpPr/>
          <p:nvPr/>
        </p:nvGrpSpPr>
        <p:grpSpPr>
          <a:xfrm>
            <a:off x="485548" y="2399326"/>
            <a:ext cx="10700932" cy="494803"/>
            <a:chOff x="485548" y="1940563"/>
            <a:chExt cx="10700932" cy="494803"/>
          </a:xfrm>
        </p:grpSpPr>
        <p:sp>
          <p:nvSpPr>
            <p:cNvPr id="4" name="Rectangle 3">
              <a:extLst>
                <a:ext uri="{FF2B5EF4-FFF2-40B4-BE49-F238E27FC236}">
                  <a16:creationId xmlns:a16="http://schemas.microsoft.com/office/drawing/2014/main" id="{FDDCF413-7D2C-A953-6C0E-9A6663DEC647}"/>
                </a:ext>
              </a:extLst>
            </p:cNvPr>
            <p:cNvSpPr/>
            <p:nvPr/>
          </p:nvSpPr>
          <p:spPr>
            <a:xfrm>
              <a:off x="485548" y="1940563"/>
              <a:ext cx="10691696" cy="494803"/>
            </a:xfrm>
            <a:prstGeom prst="rect">
              <a:avLst/>
            </a:prstGeom>
            <a:solidFill>
              <a:srgbClr val="FFFFFF"/>
            </a:solidFill>
            <a:ln>
              <a:solidFill>
                <a:srgbClr val="F6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AD5D6F8-3314-0652-C62C-069C896D77B5}"/>
                </a:ext>
              </a:extLst>
            </p:cNvPr>
            <p:cNvSpPr txBox="1"/>
            <p:nvPr/>
          </p:nvSpPr>
          <p:spPr>
            <a:xfrm>
              <a:off x="494784" y="2012611"/>
              <a:ext cx="5461404" cy="307777"/>
            </a:xfrm>
            <a:prstGeom prst="rect">
              <a:avLst/>
            </a:prstGeom>
            <a:noFill/>
          </p:spPr>
          <p:txBody>
            <a:bodyPr wrap="square" rtlCol="0">
              <a:spAutoFit/>
            </a:bodyPr>
            <a:lstStyle/>
            <a:p>
              <a:pPr algn="ctr"/>
              <a:r>
                <a:rPr lang="en-US" sz="1400" dirty="0">
                  <a:solidFill>
                    <a:srgbClr val="464C58"/>
                  </a:solidFill>
                </a:rPr>
                <a:t>AI Adoption Across Industries</a:t>
              </a:r>
            </a:p>
          </p:txBody>
        </p:sp>
        <p:sp>
          <p:nvSpPr>
            <p:cNvPr id="10" name="TextBox 9">
              <a:extLst>
                <a:ext uri="{FF2B5EF4-FFF2-40B4-BE49-F238E27FC236}">
                  <a16:creationId xmlns:a16="http://schemas.microsoft.com/office/drawing/2014/main" id="{E41687A2-E63D-2FF2-C77D-170C26FC3774}"/>
                </a:ext>
              </a:extLst>
            </p:cNvPr>
            <p:cNvSpPr txBox="1"/>
            <p:nvPr/>
          </p:nvSpPr>
          <p:spPr>
            <a:xfrm>
              <a:off x="6093141" y="2012611"/>
              <a:ext cx="5093339" cy="307777"/>
            </a:xfrm>
            <a:prstGeom prst="rect">
              <a:avLst/>
            </a:prstGeom>
            <a:noFill/>
          </p:spPr>
          <p:txBody>
            <a:bodyPr wrap="square" rtlCol="0">
              <a:spAutoFit/>
            </a:bodyPr>
            <a:lstStyle/>
            <a:p>
              <a:pPr algn="ctr"/>
              <a:r>
                <a:rPr lang="en-US" sz="1400" dirty="0">
                  <a:solidFill>
                    <a:srgbClr val="464C58"/>
                  </a:solidFill>
                </a:rPr>
                <a:t>Global AI Adoption Intensity by Country</a:t>
              </a:r>
            </a:p>
          </p:txBody>
        </p:sp>
      </p:grpSp>
      <p:sp>
        <p:nvSpPr>
          <p:cNvPr id="14" name="Rectangle 13">
            <a:extLst>
              <a:ext uri="{FF2B5EF4-FFF2-40B4-BE49-F238E27FC236}">
                <a16:creationId xmlns:a16="http://schemas.microsoft.com/office/drawing/2014/main" id="{0BB81837-DEA0-1A05-EE52-E4C3B5E043ED}"/>
              </a:ext>
            </a:extLst>
          </p:cNvPr>
          <p:cNvSpPr/>
          <p:nvPr/>
        </p:nvSpPr>
        <p:spPr>
          <a:xfrm>
            <a:off x="6003241" y="2894129"/>
            <a:ext cx="156189" cy="266919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7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02AE3-1D02-D7AA-D633-F7C2384604A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Maturity &amp; Business Outcomes</a:t>
            </a:r>
          </a:p>
        </p:txBody>
      </p:sp>
      <p:sp>
        <p:nvSpPr>
          <p:cNvPr id="3" name="Content Placeholder 2">
            <a:extLst>
              <a:ext uri="{FF2B5EF4-FFF2-40B4-BE49-F238E27FC236}">
                <a16:creationId xmlns:a16="http://schemas.microsoft.com/office/drawing/2014/main" id="{EBB29A5B-9800-983D-7DB9-E503BCEA5412}"/>
              </a:ext>
            </a:extLst>
          </p:cNvPr>
          <p:cNvSpPr>
            <a:spLocks noGrp="1"/>
          </p:cNvSpPr>
          <p:nvPr>
            <p:ph idx="1"/>
          </p:nvPr>
        </p:nvSpPr>
        <p:spPr>
          <a:xfrm>
            <a:off x="7924796" y="498698"/>
            <a:ext cx="2893382" cy="1185353"/>
          </a:xfrm>
        </p:spPr>
        <p:txBody>
          <a:bodyPr vert="horz" lIns="91440" tIns="45720" rIns="91440" bIns="45720" rtlCol="0" anchor="ctr">
            <a:normAutofit fontScale="92500" lnSpcReduction="10000"/>
          </a:bodyPr>
          <a:lstStyle/>
          <a:p>
            <a:pPr marL="0" indent="0">
              <a:buNone/>
            </a:pPr>
            <a:r>
              <a:rPr lang="en-US" sz="1800" dirty="0"/>
              <a:t>Evaluating whether AI implementation maturity is associated with measurable improvements in organizational performance</a:t>
            </a:r>
            <a:endParaRPr lang="en-US" sz="1800" kern="1200" dirty="0">
              <a:solidFill>
                <a:schemeClr val="tx1"/>
              </a:solidFill>
              <a:latin typeface="+mn-lt"/>
              <a:ea typeface="+mn-ea"/>
              <a:cs typeface="+mn-cs"/>
            </a:endParaRPr>
          </a:p>
        </p:txBody>
      </p:sp>
      <p:sp>
        <p:nvSpPr>
          <p:cNvPr id="41" name="Rectangle 4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B096357F-A1F4-0E28-436F-D2C4BA37AE1A}"/>
              </a:ext>
            </a:extLst>
          </p:cNvPr>
          <p:cNvPicPr>
            <a:picLocks noChangeAspect="1"/>
          </p:cNvPicPr>
          <p:nvPr/>
        </p:nvPicPr>
        <p:blipFill>
          <a:blip r:embed="rId3"/>
          <a:srcRect l="-1916" t="-1" r="644" b="2"/>
          <a:stretch>
            <a:fillRect/>
          </a:stretch>
        </p:blipFill>
        <p:spPr>
          <a:xfrm>
            <a:off x="2124891" y="1971071"/>
            <a:ext cx="7045739" cy="4156949"/>
          </a:xfrm>
          <a:prstGeom prst="rect">
            <a:avLst/>
          </a:prstGeom>
        </p:spPr>
      </p:pic>
      <p:grpSp>
        <p:nvGrpSpPr>
          <p:cNvPr id="7" name="Group 6">
            <a:extLst>
              <a:ext uri="{FF2B5EF4-FFF2-40B4-BE49-F238E27FC236}">
                <a16:creationId xmlns:a16="http://schemas.microsoft.com/office/drawing/2014/main" id="{5810047C-8B4E-526F-4DA6-E3A105328308}"/>
              </a:ext>
            </a:extLst>
          </p:cNvPr>
          <p:cNvGrpSpPr/>
          <p:nvPr/>
        </p:nvGrpSpPr>
        <p:grpSpPr>
          <a:xfrm>
            <a:off x="934360" y="6142163"/>
            <a:ext cx="10331734" cy="606770"/>
            <a:chOff x="1222401" y="5820936"/>
            <a:chExt cx="9978013" cy="934750"/>
          </a:xfrm>
        </p:grpSpPr>
        <p:sp>
          <p:nvSpPr>
            <p:cNvPr id="8" name="Rectangle 7">
              <a:extLst>
                <a:ext uri="{FF2B5EF4-FFF2-40B4-BE49-F238E27FC236}">
                  <a16:creationId xmlns:a16="http://schemas.microsoft.com/office/drawing/2014/main" id="{E577087C-5C6A-2776-A04E-45971388940C}"/>
                </a:ext>
              </a:extLst>
            </p:cNvPr>
            <p:cNvSpPr/>
            <p:nvPr/>
          </p:nvSpPr>
          <p:spPr>
            <a:xfrm>
              <a:off x="1222401" y="5820936"/>
              <a:ext cx="9978013" cy="900866"/>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CCECA2-BD6C-1033-B581-554783600C05}"/>
                </a:ext>
              </a:extLst>
            </p:cNvPr>
            <p:cNvSpPr txBox="1"/>
            <p:nvPr/>
          </p:nvSpPr>
          <p:spPr>
            <a:xfrm>
              <a:off x="1306286" y="5854820"/>
              <a:ext cx="9817239" cy="900866"/>
            </a:xfrm>
            <a:prstGeom prst="rect">
              <a:avLst/>
            </a:prstGeom>
            <a:noFill/>
            <a:ln>
              <a:noFill/>
            </a:ln>
          </p:spPr>
          <p:txBody>
            <a:bodyPr wrap="square" rtlCol="0">
              <a:spAutoFit/>
            </a:bodyPr>
            <a:lstStyle/>
            <a:p>
              <a:r>
                <a:rPr lang="en-US" sz="1600" b="1" dirty="0"/>
                <a:t>Key Finding: </a:t>
              </a:r>
              <a:r>
                <a:rPr lang="en-US" sz="1600" dirty="0"/>
                <a:t>Higher AI maturity was associated with stronger business outcomes, with </a:t>
              </a:r>
              <a:r>
                <a:rPr lang="en-US" sz="1600" b="1" dirty="0"/>
                <a:t>full adoption associated with the greatest improvements</a:t>
              </a:r>
              <a:r>
                <a:rPr lang="en-US" sz="1600" dirty="0"/>
                <a:t> across productivity, revenue, and cost efficiency</a:t>
              </a:r>
            </a:p>
          </p:txBody>
        </p:sp>
      </p:grpSp>
      <p:grpSp>
        <p:nvGrpSpPr>
          <p:cNvPr id="15" name="Group 14">
            <a:extLst>
              <a:ext uri="{FF2B5EF4-FFF2-40B4-BE49-F238E27FC236}">
                <a16:creationId xmlns:a16="http://schemas.microsoft.com/office/drawing/2014/main" id="{B7DBBB07-B288-0EC2-91FB-4289FC05E172}"/>
              </a:ext>
            </a:extLst>
          </p:cNvPr>
          <p:cNvGrpSpPr/>
          <p:nvPr/>
        </p:nvGrpSpPr>
        <p:grpSpPr>
          <a:xfrm>
            <a:off x="9265922" y="2182753"/>
            <a:ext cx="2032002" cy="753965"/>
            <a:chOff x="9990435" y="2182752"/>
            <a:chExt cx="1137252" cy="965960"/>
          </a:xfrm>
        </p:grpSpPr>
        <p:sp>
          <p:nvSpPr>
            <p:cNvPr id="11" name="Rectangle 10">
              <a:extLst>
                <a:ext uri="{FF2B5EF4-FFF2-40B4-BE49-F238E27FC236}">
                  <a16:creationId xmlns:a16="http://schemas.microsoft.com/office/drawing/2014/main" id="{B53EB4D7-C041-9B42-AB26-515AF27945C3}"/>
                </a:ext>
              </a:extLst>
            </p:cNvPr>
            <p:cNvSpPr/>
            <p:nvPr/>
          </p:nvSpPr>
          <p:spPr>
            <a:xfrm>
              <a:off x="9990435" y="2182752"/>
              <a:ext cx="1114506" cy="96596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48FC5D1-8D23-C721-1171-E1E271CE5ECF}"/>
                </a:ext>
              </a:extLst>
            </p:cNvPr>
            <p:cNvSpPr txBox="1"/>
            <p:nvPr/>
          </p:nvSpPr>
          <p:spPr>
            <a:xfrm>
              <a:off x="10013181" y="2238306"/>
              <a:ext cx="1114506" cy="887209"/>
            </a:xfrm>
            <a:prstGeom prst="rect">
              <a:avLst/>
            </a:prstGeom>
            <a:noFill/>
          </p:spPr>
          <p:txBody>
            <a:bodyPr wrap="square" rtlCol="0">
              <a:spAutoFit/>
            </a:bodyPr>
            <a:lstStyle/>
            <a:p>
              <a:r>
                <a:rPr lang="en-US" sz="1200" dirty="0"/>
                <a:t>AI Maturity          Productivity</a:t>
              </a:r>
            </a:p>
            <a:p>
              <a:pPr algn="ctr"/>
              <a:endParaRPr lang="en-US" sz="1500" dirty="0"/>
            </a:p>
            <a:p>
              <a:r>
                <a:rPr lang="en-US" sz="1200" dirty="0"/>
                <a:t>Strong Positive Correlation</a:t>
              </a:r>
              <a:endParaRPr lang="en-US" sz="1400" dirty="0"/>
            </a:p>
          </p:txBody>
        </p:sp>
      </p:grpSp>
      <p:sp>
        <p:nvSpPr>
          <p:cNvPr id="24" name="Arrow: Left-Right 23">
            <a:extLst>
              <a:ext uri="{FF2B5EF4-FFF2-40B4-BE49-F238E27FC236}">
                <a16:creationId xmlns:a16="http://schemas.microsoft.com/office/drawing/2014/main" id="{D875435A-82B7-505B-7107-0D84FE30BE74}"/>
              </a:ext>
            </a:extLst>
          </p:cNvPr>
          <p:cNvSpPr/>
          <p:nvPr/>
        </p:nvSpPr>
        <p:spPr>
          <a:xfrm>
            <a:off x="10202399" y="2351388"/>
            <a:ext cx="121920" cy="4571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037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2C627F-769A-755A-7E96-96F4E60ACC7F}"/>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Workforce Impact  </a:t>
            </a:r>
            <a:br>
              <a:rPr lang="en-US" sz="4000" kern="1200" dirty="0">
                <a:solidFill>
                  <a:schemeClr val="tx1"/>
                </a:solidFill>
                <a:latin typeface="+mj-lt"/>
                <a:ea typeface="+mj-ea"/>
                <a:cs typeface="+mj-cs"/>
              </a:rPr>
            </a:br>
            <a:r>
              <a:rPr lang="en-US" sz="2000" kern="1200" dirty="0">
                <a:solidFill>
                  <a:schemeClr val="tx1"/>
                </a:solidFill>
                <a:latin typeface="+mj-lt"/>
                <a:ea typeface="+mj-ea"/>
                <a:cs typeface="+mj-cs"/>
              </a:rPr>
              <a:t>Scale vs Relative Impact</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A07C6C6A-C2B6-FE76-0B8C-D7784D45C408}"/>
              </a:ext>
            </a:extLst>
          </p:cNvPr>
          <p:cNvSpPr>
            <a:spLocks noGrp="1"/>
          </p:cNvSpPr>
          <p:nvPr>
            <p:ph idx="1"/>
          </p:nvPr>
        </p:nvSpPr>
        <p:spPr>
          <a:xfrm>
            <a:off x="7924796" y="498698"/>
            <a:ext cx="2893382" cy="1185353"/>
          </a:xfrm>
        </p:spPr>
        <p:txBody>
          <a:bodyPr vert="horz" lIns="91440" tIns="45720" rIns="91440" bIns="45720" rtlCol="0" anchor="ctr">
            <a:normAutofit/>
          </a:bodyPr>
          <a:lstStyle/>
          <a:p>
            <a:pPr marL="0" indent="0">
              <a:buNone/>
            </a:pPr>
            <a:r>
              <a:rPr lang="en-US" sz="1800" dirty="0"/>
              <a:t>Comparing AI-Driven Workforce Changes Across Company Sizes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Picture 8">
            <a:extLst>
              <a:ext uri="{FF2B5EF4-FFF2-40B4-BE49-F238E27FC236}">
                <a16:creationId xmlns:a16="http://schemas.microsoft.com/office/drawing/2014/main" id="{F5571C5E-0ADE-2A1E-D9E9-9DD6FFDA5ECB}"/>
              </a:ext>
            </a:extLst>
          </p:cNvPr>
          <p:cNvPicPr>
            <a:picLocks noChangeAspect="1"/>
          </p:cNvPicPr>
          <p:nvPr/>
        </p:nvPicPr>
        <p:blipFill>
          <a:blip r:embed="rId3"/>
          <a:stretch>
            <a:fillRect/>
          </a:stretch>
        </p:blipFill>
        <p:spPr>
          <a:xfrm>
            <a:off x="398482" y="1978724"/>
            <a:ext cx="11219384" cy="4151172"/>
          </a:xfrm>
          <a:prstGeom prst="rect">
            <a:avLst/>
          </a:prstGeom>
        </p:spPr>
      </p:pic>
      <p:grpSp>
        <p:nvGrpSpPr>
          <p:cNvPr id="10" name="Group 9">
            <a:extLst>
              <a:ext uri="{FF2B5EF4-FFF2-40B4-BE49-F238E27FC236}">
                <a16:creationId xmlns:a16="http://schemas.microsoft.com/office/drawing/2014/main" id="{AB84D7B7-D8A9-7DFA-54DD-AF16F0B0011E}"/>
              </a:ext>
            </a:extLst>
          </p:cNvPr>
          <p:cNvGrpSpPr/>
          <p:nvPr/>
        </p:nvGrpSpPr>
        <p:grpSpPr>
          <a:xfrm>
            <a:off x="934360" y="6136651"/>
            <a:ext cx="10331734" cy="591972"/>
            <a:chOff x="1222401" y="5468091"/>
            <a:chExt cx="9978013" cy="911951"/>
          </a:xfrm>
        </p:grpSpPr>
        <p:sp>
          <p:nvSpPr>
            <p:cNvPr id="11" name="Rectangle 10">
              <a:extLst>
                <a:ext uri="{FF2B5EF4-FFF2-40B4-BE49-F238E27FC236}">
                  <a16:creationId xmlns:a16="http://schemas.microsoft.com/office/drawing/2014/main" id="{B7EF099A-E86B-4479-99AE-D73EF4840EE5}"/>
                </a:ext>
              </a:extLst>
            </p:cNvPr>
            <p:cNvSpPr/>
            <p:nvPr/>
          </p:nvSpPr>
          <p:spPr>
            <a:xfrm>
              <a:off x="1222401" y="5468091"/>
              <a:ext cx="9978013" cy="901545"/>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A760B44A-0DC3-58D4-308A-42EFA8F36C5D}"/>
                </a:ext>
              </a:extLst>
            </p:cNvPr>
            <p:cNvSpPr txBox="1"/>
            <p:nvPr/>
          </p:nvSpPr>
          <p:spPr>
            <a:xfrm>
              <a:off x="1306286" y="5479177"/>
              <a:ext cx="9817239" cy="900865"/>
            </a:xfrm>
            <a:prstGeom prst="rect">
              <a:avLst/>
            </a:prstGeom>
            <a:noFill/>
            <a:ln>
              <a:noFill/>
            </a:ln>
          </p:spPr>
          <p:txBody>
            <a:bodyPr wrap="square" rtlCol="0">
              <a:spAutoFit/>
            </a:bodyPr>
            <a:lstStyle/>
            <a:p>
              <a:r>
                <a:rPr lang="en-US" sz="1600" b="1" dirty="0"/>
                <a:t>Key Finding: </a:t>
              </a:r>
              <a:r>
                <a:rPr lang="en-US" sz="1600" dirty="0"/>
                <a:t>Enterprise organizations show the largest workforce shifts by volume, but normalized analysis reveals reskilling is a consistent response across company sizes.</a:t>
              </a:r>
            </a:p>
          </p:txBody>
        </p:sp>
      </p:grpSp>
    </p:spTree>
    <p:extLst>
      <p:ext uri="{BB962C8B-B14F-4D97-AF65-F5344CB8AC3E}">
        <p14:creationId xmlns:p14="http://schemas.microsoft.com/office/powerpoint/2010/main" val="25266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F26DA-96B4-3909-7137-2099AF35FA7A}"/>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1B4B701-F5CB-01F6-7403-1CED722D8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5B84C6F8-02F2-3B88-01AC-10601DD96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8F58C-112F-E8BB-68F3-DBDBD46A085F}"/>
              </a:ext>
            </a:extLst>
          </p:cNvPr>
          <p:cNvSpPr>
            <a:spLocks noGrp="1"/>
          </p:cNvSpPr>
          <p:nvPr>
            <p:ph type="title"/>
          </p:nvPr>
        </p:nvSpPr>
        <p:spPr>
          <a:xfrm>
            <a:off x="901689" y="405575"/>
            <a:ext cx="6725927"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Recommendations &amp; Way Forward</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CE89ECC-7037-BC2E-C6B1-F9D57EF9D40F}"/>
              </a:ext>
            </a:extLst>
          </p:cNvPr>
          <p:cNvSpPr>
            <a:spLocks noGrp="1"/>
          </p:cNvSpPr>
          <p:nvPr>
            <p:ph idx="1"/>
          </p:nvPr>
        </p:nvSpPr>
        <p:spPr>
          <a:xfrm>
            <a:off x="7924796" y="498698"/>
            <a:ext cx="3365514" cy="1185353"/>
          </a:xfrm>
        </p:spPr>
        <p:txBody>
          <a:bodyPr vert="horz" lIns="91440" tIns="45720" rIns="91440" bIns="45720" rtlCol="0" anchor="ctr">
            <a:normAutofit/>
          </a:bodyPr>
          <a:lstStyle/>
          <a:p>
            <a:pPr marL="0" indent="0">
              <a:buNone/>
            </a:pPr>
            <a:r>
              <a:rPr lang="en-US" sz="1800" dirty="0"/>
              <a:t>Identifying actions to improve AI maturity, workforce readiness, and organizational outcomes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CF2BDDFB-5D54-06C1-AA8D-D1BEE748DE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0AB88907-17AB-C310-B286-F0A3ADCF5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Diagram 3">
            <a:extLst>
              <a:ext uri="{FF2B5EF4-FFF2-40B4-BE49-F238E27FC236}">
                <a16:creationId xmlns:a16="http://schemas.microsoft.com/office/drawing/2014/main" id="{A672B9A4-53FD-6645-1D81-D5C6283CAFA9}"/>
              </a:ext>
            </a:extLst>
          </p:cNvPr>
          <p:cNvGraphicFramePr/>
          <p:nvPr>
            <p:extLst>
              <p:ext uri="{D42A27DB-BD31-4B8C-83A1-F6EECF244321}">
                <p14:modId xmlns:p14="http://schemas.microsoft.com/office/powerpoint/2010/main" val="320899661"/>
              </p:ext>
            </p:extLst>
          </p:nvPr>
        </p:nvGraphicFramePr>
        <p:xfrm>
          <a:off x="494784" y="2396967"/>
          <a:ext cx="11097349" cy="32805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415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790D-C34F-A7CD-B670-DAB65106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BF8EC-7D79-8209-055C-37D2E61A5A6B}"/>
              </a:ext>
            </a:extLst>
          </p:cNvPr>
          <p:cNvSpPr>
            <a:spLocks noGrp="1"/>
          </p:cNvSpPr>
          <p:nvPr>
            <p:ph type="title"/>
          </p:nvPr>
        </p:nvSpPr>
        <p:spPr>
          <a:xfrm>
            <a:off x="2187363" y="1671569"/>
            <a:ext cx="5801917" cy="2228760"/>
          </a:xfrm>
        </p:spPr>
        <p:txBody>
          <a:bodyPr anchor="b">
            <a:normAutofit/>
          </a:bodyPr>
          <a:lstStyle/>
          <a:p>
            <a:r>
              <a:rPr lang="en-US" sz="4000" dirty="0"/>
              <a:t>Summary</a:t>
            </a:r>
          </a:p>
        </p:txBody>
      </p:sp>
      <p:pic>
        <p:nvPicPr>
          <p:cNvPr id="22" name="Graphic 21" descr="Head with Gears">
            <a:extLst>
              <a:ext uri="{FF2B5EF4-FFF2-40B4-BE49-F238E27FC236}">
                <a16:creationId xmlns:a16="http://schemas.microsoft.com/office/drawing/2014/main" id="{CFE1C145-8195-EB4B-5B4A-2DC4F121BF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78B14071-0148-F0BE-619A-CD36A7A08FA8}"/>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sp>
        <p:nvSpPr>
          <p:cNvPr id="5" name="TextBox 4">
            <a:extLst>
              <a:ext uri="{FF2B5EF4-FFF2-40B4-BE49-F238E27FC236}">
                <a16:creationId xmlns:a16="http://schemas.microsoft.com/office/drawing/2014/main" id="{B21542F2-7FE7-1F5C-F970-D21C40E7830B}"/>
              </a:ext>
            </a:extLst>
          </p:cNvPr>
          <p:cNvSpPr txBox="1"/>
          <p:nvPr/>
        </p:nvSpPr>
        <p:spPr>
          <a:xfrm>
            <a:off x="8646160" y="812800"/>
            <a:ext cx="2458720" cy="523220"/>
          </a:xfrm>
          <a:prstGeom prst="rect">
            <a:avLst/>
          </a:prstGeom>
          <a:noFill/>
        </p:spPr>
        <p:txBody>
          <a:bodyPr wrap="square" rtlCol="0">
            <a:spAutoFit/>
          </a:bodyPr>
          <a:lstStyle/>
          <a:p>
            <a:r>
              <a:rPr lang="en-US" sz="2800" dirty="0"/>
              <a:t>Questions?</a:t>
            </a:r>
            <a:endParaRPr lang="en-US" dirty="0"/>
          </a:p>
        </p:txBody>
      </p:sp>
    </p:spTree>
    <p:extLst>
      <p:ext uri="{BB962C8B-B14F-4D97-AF65-F5344CB8AC3E}">
        <p14:creationId xmlns:p14="http://schemas.microsoft.com/office/powerpoint/2010/main" val="848280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6182</TotalTime>
  <Words>1023</Words>
  <Application>Microsoft Office PowerPoint</Application>
  <PresentationFormat>Widescreen</PresentationFormat>
  <Paragraphs>92</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Global AI Adoption &amp; Workforce Impact Analysis </vt:lpstr>
      <vt:lpstr>Contents</vt:lpstr>
      <vt:lpstr>Study Overview:  Measuring AI Adoption and Organizational Impact</vt:lpstr>
      <vt:lpstr>AI Adoption Landscape Variation Across Regions and Industries</vt:lpstr>
      <vt:lpstr>AI Maturity &amp; Business Outcomes</vt:lpstr>
      <vt:lpstr>AI Workforce Impact   Scale vs Relative Impact</vt:lpstr>
      <vt:lpstr>Recommendations &amp; Way Forward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Shockley</dc:creator>
  <cp:lastModifiedBy>Patrick Shockley</cp:lastModifiedBy>
  <cp:revision>16</cp:revision>
  <dcterms:created xsi:type="dcterms:W3CDTF">2026-06-05T14:53:11Z</dcterms:created>
  <dcterms:modified xsi:type="dcterms:W3CDTF">2026-06-09T21:57:28Z</dcterms:modified>
</cp:coreProperties>
</file>