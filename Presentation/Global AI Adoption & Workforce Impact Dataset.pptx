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65" r:id="rId5"/>
    <p:sldId id="266" r:id="rId6"/>
    <p:sldId id="264"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6E6"/>
    <a:srgbClr val="E97132"/>
    <a:srgbClr val="FFFFFF"/>
    <a:srgbClr val="C7D7D7"/>
    <a:srgbClr val="527372"/>
    <a:srgbClr val="86A8A8"/>
    <a:srgbClr val="F6F8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15" autoAdjust="0"/>
    <p:restoredTop sz="85230" autoAdjust="0"/>
  </p:normalViewPr>
  <p:slideViewPr>
    <p:cSldViewPr snapToGrid="0">
      <p:cViewPr varScale="1">
        <p:scale>
          <a:sx n="94" d="100"/>
          <a:sy n="94" d="100"/>
        </p:scale>
        <p:origin x="46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8C6B24-4B47-4CBB-A1F4-8E5735CF3BA4}" type="datetimeFigureOut">
              <a:rPr lang="en-US" smtClean="0"/>
              <a:t>6/8/2026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EC6C8B-BE8F-47B7-AB4D-01360EFA917A}" type="slidenum">
              <a:rPr lang="en-US" smtClean="0"/>
              <a:t>‹#›</a:t>
            </a:fld>
            <a:endParaRPr lang="en-US"/>
          </a:p>
        </p:txBody>
      </p:sp>
    </p:spTree>
    <p:extLst>
      <p:ext uri="{BB962C8B-B14F-4D97-AF65-F5344CB8AC3E}">
        <p14:creationId xmlns:p14="http://schemas.microsoft.com/office/powerpoint/2010/main" val="39565222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i="0" kern="1200" dirty="0">
                <a:solidFill>
                  <a:schemeClr val="tx1"/>
                </a:solidFill>
                <a:effectLst/>
                <a:latin typeface="+mn-lt"/>
                <a:ea typeface="+mn-ea"/>
                <a:cs typeface="+mn-cs"/>
              </a:rPr>
              <a:t>About Dataset</a:t>
            </a:r>
          </a:p>
          <a:p>
            <a:pPr fontAlgn="base"/>
            <a:r>
              <a:rPr lang="en-US" sz="1200" b="1" i="0" kern="1200" dirty="0">
                <a:solidFill>
                  <a:schemeClr val="tx1"/>
                </a:solidFill>
                <a:effectLst/>
                <a:latin typeface="+mn-lt"/>
                <a:ea typeface="+mn-ea"/>
                <a:cs typeface="+mn-cs"/>
              </a:rPr>
              <a:t>Global AI Adoption &amp; Workforce Impact Dataset</a:t>
            </a:r>
          </a:p>
          <a:p>
            <a:pPr fontAlgn="base"/>
            <a:r>
              <a:rPr lang="en-US" sz="1200" b="0" i="0" kern="1200" dirty="0">
                <a:solidFill>
                  <a:schemeClr val="tx1"/>
                </a:solidFill>
                <a:effectLst/>
                <a:latin typeface="+mn-lt"/>
                <a:ea typeface="+mn-ea"/>
                <a:cs typeface="+mn-cs"/>
              </a:rPr>
              <a:t>Artificial Intelligence adoption is rapidly transforming how organizations operate, automate tasks, and reshape their workforce. Understanding the relationship between AI adoption, productivity, governance, and workforce changes is critical for researchers, analysts, and policy makers.</a:t>
            </a:r>
          </a:p>
          <a:p>
            <a:pPr fontAlgn="base"/>
            <a:r>
              <a:rPr lang="en-US" sz="1200" b="0" i="0" kern="1200" dirty="0">
                <a:solidFill>
                  <a:schemeClr val="tx1"/>
                </a:solidFill>
                <a:effectLst/>
                <a:latin typeface="+mn-lt"/>
                <a:ea typeface="+mn-ea"/>
                <a:cs typeface="+mn-cs"/>
              </a:rPr>
              <a:t>This dataset provides a structured view of how companies across industries and countries adopt AI technologies and how those decisions affect productivity, workforce dynamics, and operational outcomes.</a:t>
            </a:r>
          </a:p>
          <a:p>
            <a:pPr fontAlgn="base"/>
            <a:r>
              <a:rPr lang="en-US" sz="1200" b="0" i="0" kern="1200" dirty="0">
                <a:solidFill>
                  <a:schemeClr val="tx1"/>
                </a:solidFill>
                <a:effectLst/>
                <a:latin typeface="+mn-lt"/>
                <a:ea typeface="+mn-ea"/>
                <a:cs typeface="+mn-cs"/>
              </a:rPr>
              <a:t>The dataset captures company-level indicators including AI adoption stage, AI investments, automation rates, workforce changes, governance practices, and business performance metrics. It also includes macro-level country indicators that influence digital transformation and AI adoption patterns.</a:t>
            </a:r>
          </a:p>
          <a:p>
            <a:pPr fontAlgn="base"/>
            <a:r>
              <a:rPr lang="en-US" sz="1200" b="0" i="0" kern="1200" dirty="0">
                <a:solidFill>
                  <a:schemeClr val="tx1"/>
                </a:solidFill>
                <a:effectLst/>
                <a:latin typeface="+mn-lt"/>
                <a:ea typeface="+mn-ea"/>
                <a:cs typeface="+mn-cs"/>
              </a:rPr>
              <a:t>The dataset was constructed by aggregating patterns observed in global technology adoption reports, digital transformation studies, workforce analytics publications, and AI governance frameworks. Company characteristics, adoption behavior, workforce impact, productivity changes, and innovation indicators were modeled to reflect realistic organizational behavior across industries and regions.</a:t>
            </a:r>
          </a:p>
          <a:p>
            <a:pPr fontAlgn="base"/>
            <a:r>
              <a:rPr lang="en-US" sz="1200" b="0" i="0" kern="1200" dirty="0">
                <a:solidFill>
                  <a:schemeClr val="tx1"/>
                </a:solidFill>
                <a:effectLst/>
                <a:latin typeface="+mn-lt"/>
                <a:ea typeface="+mn-ea"/>
                <a:cs typeface="+mn-cs"/>
              </a:rPr>
              <a:t>Role distributions, investment levels, automation rates, and workforce adjustments follow structured statistical distributions designed to resemble real-world enterprise analytics datasets. Country-level indicators such as digital maturity, internet penetration, and AI research intensity were modeled to reflect global technology ecosystems.</a:t>
            </a:r>
          </a:p>
          <a:p>
            <a:pPr fontAlgn="base"/>
            <a:r>
              <a:rPr lang="en-US" sz="1200" b="0" i="0" kern="1200" dirty="0">
                <a:solidFill>
                  <a:schemeClr val="tx1"/>
                </a:solidFill>
                <a:effectLst/>
                <a:latin typeface="+mn-lt"/>
                <a:ea typeface="+mn-ea"/>
                <a:cs typeface="+mn-cs"/>
              </a:rPr>
              <a:t>The dataset is fully structured, cleaned, and formatted as tabular CSV files ready for:</a:t>
            </a:r>
          </a:p>
          <a:p>
            <a:pPr fontAlgn="base"/>
            <a:r>
              <a:rPr lang="en-US" sz="1200" b="0" i="0" kern="1200" dirty="0">
                <a:solidFill>
                  <a:schemeClr val="tx1"/>
                </a:solidFill>
                <a:effectLst/>
                <a:latin typeface="+mn-lt"/>
                <a:ea typeface="+mn-ea"/>
                <a:cs typeface="+mn-cs"/>
              </a:rPr>
              <a:t>Exploratory Data Analysis (EDA)</a:t>
            </a:r>
          </a:p>
          <a:p>
            <a:pPr fontAlgn="base"/>
            <a:r>
              <a:rPr lang="en-US" sz="1200" b="0" i="0" kern="1200" dirty="0">
                <a:solidFill>
                  <a:schemeClr val="tx1"/>
                </a:solidFill>
                <a:effectLst/>
                <a:latin typeface="+mn-lt"/>
                <a:ea typeface="+mn-ea"/>
                <a:cs typeface="+mn-cs"/>
              </a:rPr>
              <a:t>Data visualization</a:t>
            </a:r>
          </a:p>
          <a:p>
            <a:pPr fontAlgn="base"/>
            <a:r>
              <a:rPr lang="en-US" sz="1200" b="0" i="0" kern="1200" dirty="0">
                <a:solidFill>
                  <a:schemeClr val="tx1"/>
                </a:solidFill>
                <a:effectLst/>
                <a:latin typeface="+mn-lt"/>
                <a:ea typeface="+mn-ea"/>
                <a:cs typeface="+mn-cs"/>
              </a:rPr>
              <a:t>Machine learning experiments</a:t>
            </a:r>
          </a:p>
          <a:p>
            <a:pPr fontAlgn="base"/>
            <a:r>
              <a:rPr lang="en-US" sz="1200" b="0" i="0" kern="1200" dirty="0">
                <a:solidFill>
                  <a:schemeClr val="tx1"/>
                </a:solidFill>
                <a:effectLst/>
                <a:latin typeface="+mn-lt"/>
                <a:ea typeface="+mn-ea"/>
                <a:cs typeface="+mn-cs"/>
              </a:rPr>
              <a:t>Business analytics projects</a:t>
            </a:r>
          </a:p>
          <a:p>
            <a:pPr fontAlgn="base"/>
            <a:r>
              <a:rPr lang="en-US" sz="1200" b="0" i="0" kern="1200" dirty="0">
                <a:solidFill>
                  <a:schemeClr val="tx1"/>
                </a:solidFill>
                <a:effectLst/>
                <a:latin typeface="+mn-lt"/>
                <a:ea typeface="+mn-ea"/>
                <a:cs typeface="+mn-cs"/>
              </a:rPr>
              <a:t>AI adoption research</a:t>
            </a:r>
          </a:p>
          <a:p>
            <a:pPr fontAlgn="base"/>
            <a:r>
              <a:rPr lang="en-US" sz="1200" b="0" i="0" kern="1200" dirty="0">
                <a:solidFill>
                  <a:schemeClr val="tx1"/>
                </a:solidFill>
                <a:effectLst/>
                <a:latin typeface="+mn-lt"/>
                <a:ea typeface="+mn-ea"/>
                <a:cs typeface="+mn-cs"/>
              </a:rPr>
              <a:t>The dataset includes multiple related tables designed for relational analysis and scalable analytical workflows.</a:t>
            </a:r>
          </a:p>
          <a:p>
            <a:endParaRPr lang="en-US" dirty="0"/>
          </a:p>
        </p:txBody>
      </p:sp>
      <p:sp>
        <p:nvSpPr>
          <p:cNvPr id="4" name="Slide Number Placeholder 3"/>
          <p:cNvSpPr>
            <a:spLocks noGrp="1"/>
          </p:cNvSpPr>
          <p:nvPr>
            <p:ph type="sldNum" sz="quarter" idx="5"/>
          </p:nvPr>
        </p:nvSpPr>
        <p:spPr/>
        <p:txBody>
          <a:bodyPr/>
          <a:lstStyle/>
          <a:p>
            <a:fld id="{EFEC6C8B-BE8F-47B7-AB4D-01360EFA917A}" type="slidenum">
              <a:rPr lang="en-US" smtClean="0"/>
              <a:t>3</a:t>
            </a:fld>
            <a:endParaRPr lang="en-US"/>
          </a:p>
        </p:txBody>
      </p:sp>
    </p:spTree>
    <p:extLst>
      <p:ext uri="{BB962C8B-B14F-4D97-AF65-F5344CB8AC3E}">
        <p14:creationId xmlns:p14="http://schemas.microsoft.com/office/powerpoint/2010/main" val="2475338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initial analysis establishes the AI adoption landscape before evaluating business outcomes. The dataset shows variation across both industries and countries, with Technology and Finance reporting the highest average AI adoption rates. These differences provide important context because adoption alone does not necessarily indicate success. The following analysis evaluates whether higher AI adoption and maturity are associated with measurable outcomes such as productivity improvements, revenue growth, and workforce changes.</a:t>
            </a:r>
          </a:p>
          <a:p>
            <a:endParaRPr lang="en-US" dirty="0"/>
          </a:p>
          <a:p>
            <a:r>
              <a:rPr lang="en-US" dirty="0"/>
              <a:t>The choropleth aggregates company-level survey responses into country-level averages. Each country's color represents the mean AI adoption rate reported by organizations located in that country, allowing comparison of AI adoption intensity independent of the number of surveyed companies.</a:t>
            </a:r>
          </a:p>
          <a:p>
            <a:r>
              <a:rPr lang="en-US" dirty="0"/>
              <a:t>Shading represents the average AI adoption rate of organizations in that country, not the total number of AI companies</a:t>
            </a:r>
          </a:p>
          <a:p>
            <a:r>
              <a:rPr lang="en-US" dirty="0"/>
              <a:t>Study includes 30 countries and 9 industries</a:t>
            </a:r>
          </a:p>
          <a:p>
            <a:endParaRPr lang="en-US" dirty="0"/>
          </a:p>
          <a:p>
            <a:r>
              <a:rPr lang="en-US" dirty="0"/>
              <a:t>Geographic lens → where surveyed companies show higher adoption rates</a:t>
            </a:r>
          </a:p>
          <a:p>
            <a:r>
              <a:rPr lang="en-US" dirty="0"/>
              <a:t> Industry lens → which sectors show higher adoption rates</a:t>
            </a:r>
          </a:p>
        </p:txBody>
      </p:sp>
      <p:sp>
        <p:nvSpPr>
          <p:cNvPr id="4" name="Slide Number Placeholder 3"/>
          <p:cNvSpPr>
            <a:spLocks noGrp="1"/>
          </p:cNvSpPr>
          <p:nvPr>
            <p:ph type="sldNum" sz="quarter" idx="5"/>
          </p:nvPr>
        </p:nvSpPr>
        <p:spPr/>
        <p:txBody>
          <a:bodyPr/>
          <a:lstStyle/>
          <a:p>
            <a:fld id="{EFEC6C8B-BE8F-47B7-AB4D-01360EFA917A}" type="slidenum">
              <a:rPr lang="en-US" smtClean="0"/>
              <a:t>4</a:t>
            </a:fld>
            <a:endParaRPr lang="en-US"/>
          </a:p>
        </p:txBody>
      </p:sp>
    </p:spTree>
    <p:extLst>
      <p:ext uri="{BB962C8B-B14F-4D97-AF65-F5344CB8AC3E}">
        <p14:creationId xmlns:p14="http://schemas.microsoft.com/office/powerpoint/2010/main" val="523487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Key Finding: AI maturity was strongly associated with improved business outcomes. </a:t>
            </a:r>
          </a:p>
          <a:p>
            <a:endParaRPr lang="en-US" dirty="0"/>
          </a:p>
        </p:txBody>
      </p:sp>
      <p:sp>
        <p:nvSpPr>
          <p:cNvPr id="4" name="Slide Number Placeholder 3"/>
          <p:cNvSpPr>
            <a:spLocks noGrp="1"/>
          </p:cNvSpPr>
          <p:nvPr>
            <p:ph type="sldNum" sz="quarter" idx="5"/>
          </p:nvPr>
        </p:nvSpPr>
        <p:spPr/>
        <p:txBody>
          <a:bodyPr/>
          <a:lstStyle/>
          <a:p>
            <a:fld id="{EFEC6C8B-BE8F-47B7-AB4D-01360EFA917A}" type="slidenum">
              <a:rPr lang="en-US" smtClean="0"/>
              <a:t>5</a:t>
            </a:fld>
            <a:endParaRPr lang="en-US"/>
          </a:p>
        </p:txBody>
      </p:sp>
    </p:spTree>
    <p:extLst>
      <p:ext uri="{BB962C8B-B14F-4D97-AF65-F5344CB8AC3E}">
        <p14:creationId xmlns:p14="http://schemas.microsoft.com/office/powerpoint/2010/main" val="41967998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8A121-B9BD-154B-3D39-EA594A1F9D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6F0A1ED-8C66-FE50-B6D3-23D8CFE219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E83169D-3DC8-4488-5BD2-C434E3DC87B1}"/>
              </a:ext>
            </a:extLst>
          </p:cNvPr>
          <p:cNvSpPr>
            <a:spLocks noGrp="1"/>
          </p:cNvSpPr>
          <p:nvPr>
            <p:ph type="dt" sz="half" idx="10"/>
          </p:nvPr>
        </p:nvSpPr>
        <p:spPr/>
        <p:txBody>
          <a:bodyPr/>
          <a:lstStyle/>
          <a:p>
            <a:fld id="{3A05994F-B708-4CDD-9FAD-1FB834AA18DC}" type="datetimeFigureOut">
              <a:rPr lang="en-US" smtClean="0"/>
              <a:t>6/4/2026</a:t>
            </a:fld>
            <a:endParaRPr lang="en-US"/>
          </a:p>
        </p:txBody>
      </p:sp>
      <p:sp>
        <p:nvSpPr>
          <p:cNvPr id="5" name="Footer Placeholder 4">
            <a:extLst>
              <a:ext uri="{FF2B5EF4-FFF2-40B4-BE49-F238E27FC236}">
                <a16:creationId xmlns:a16="http://schemas.microsoft.com/office/drawing/2014/main" id="{D3A089B9-1F2F-4605-4617-FFB2D8A6A0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0D4CDB-D951-616A-BC8A-24F4EDA90D35}"/>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1456531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66765-0F5F-E2AE-EABE-4AA90CA15F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533386-26FF-54CC-EB8D-60D6CAB0AF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88FFE4-8814-461E-6825-C9375484B48D}"/>
              </a:ext>
            </a:extLst>
          </p:cNvPr>
          <p:cNvSpPr>
            <a:spLocks noGrp="1"/>
          </p:cNvSpPr>
          <p:nvPr>
            <p:ph type="dt" sz="half" idx="10"/>
          </p:nvPr>
        </p:nvSpPr>
        <p:spPr/>
        <p:txBody>
          <a:bodyPr/>
          <a:lstStyle/>
          <a:p>
            <a:fld id="{3A05994F-B708-4CDD-9FAD-1FB834AA18DC}" type="datetimeFigureOut">
              <a:rPr lang="en-US" smtClean="0"/>
              <a:t>6/4/2026</a:t>
            </a:fld>
            <a:endParaRPr lang="en-US"/>
          </a:p>
        </p:txBody>
      </p:sp>
      <p:sp>
        <p:nvSpPr>
          <p:cNvPr id="5" name="Footer Placeholder 4">
            <a:extLst>
              <a:ext uri="{FF2B5EF4-FFF2-40B4-BE49-F238E27FC236}">
                <a16:creationId xmlns:a16="http://schemas.microsoft.com/office/drawing/2014/main" id="{56DD388C-FDFC-ED33-C5A2-E8EE36EDB9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FAF903-7BC8-E900-7D90-DD6FB9DD1715}"/>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2571901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DAC44-0100-D0F6-C575-3D45AF5051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7B99246-4EA1-943B-E16B-F543E1FAA57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C40A43-7263-E156-7EAA-991F6EA4AA8C}"/>
              </a:ext>
            </a:extLst>
          </p:cNvPr>
          <p:cNvSpPr>
            <a:spLocks noGrp="1"/>
          </p:cNvSpPr>
          <p:nvPr>
            <p:ph type="dt" sz="half" idx="10"/>
          </p:nvPr>
        </p:nvSpPr>
        <p:spPr/>
        <p:txBody>
          <a:bodyPr/>
          <a:lstStyle/>
          <a:p>
            <a:fld id="{3A05994F-B708-4CDD-9FAD-1FB834AA18DC}" type="datetimeFigureOut">
              <a:rPr lang="en-US" smtClean="0"/>
              <a:t>6/4/2026</a:t>
            </a:fld>
            <a:endParaRPr lang="en-US"/>
          </a:p>
        </p:txBody>
      </p:sp>
      <p:sp>
        <p:nvSpPr>
          <p:cNvPr id="5" name="Footer Placeholder 4">
            <a:extLst>
              <a:ext uri="{FF2B5EF4-FFF2-40B4-BE49-F238E27FC236}">
                <a16:creationId xmlns:a16="http://schemas.microsoft.com/office/drawing/2014/main" id="{CBE455F0-5F5B-A5BB-3370-4A1A954AAA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7B76E0-A662-322D-1455-3B0703944655}"/>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2255832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591B8-4DF4-6E73-BA20-C109278C53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050DD9-521C-DB14-A176-C135D417D6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AF0CF1-9138-3E7B-0176-BB6C9FD9363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F63F4F4-04DC-22C8-C1D3-4B3E22504893}"/>
              </a:ext>
            </a:extLst>
          </p:cNvPr>
          <p:cNvSpPr>
            <a:spLocks noGrp="1"/>
          </p:cNvSpPr>
          <p:nvPr>
            <p:ph type="dt" sz="half" idx="10"/>
          </p:nvPr>
        </p:nvSpPr>
        <p:spPr/>
        <p:txBody>
          <a:bodyPr/>
          <a:lstStyle/>
          <a:p>
            <a:fld id="{3A05994F-B708-4CDD-9FAD-1FB834AA18DC}" type="datetimeFigureOut">
              <a:rPr lang="en-US" smtClean="0"/>
              <a:t>6/4/2026</a:t>
            </a:fld>
            <a:endParaRPr lang="en-US"/>
          </a:p>
        </p:txBody>
      </p:sp>
      <p:sp>
        <p:nvSpPr>
          <p:cNvPr id="6" name="Footer Placeholder 5">
            <a:extLst>
              <a:ext uri="{FF2B5EF4-FFF2-40B4-BE49-F238E27FC236}">
                <a16:creationId xmlns:a16="http://schemas.microsoft.com/office/drawing/2014/main" id="{734258EE-B10D-D436-C934-FB5C5A4F71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F66F4E-EA83-6B1A-7D9C-EAF911C626E7}"/>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3296904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B5B3F-1D6F-165A-94D7-A2AB749BC01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56536B6-0FB7-BFAB-BBDD-D4945F1F64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B7B452-FA8C-86D4-2C69-5C816B28B6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7CB5F54-8D8C-BE02-CB2A-A9EBAE8A1E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1821AC-9D19-CE90-1A8D-2CAEDB707A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C93D574-7510-60B5-25BA-2D215E3E0103}"/>
              </a:ext>
            </a:extLst>
          </p:cNvPr>
          <p:cNvSpPr>
            <a:spLocks noGrp="1"/>
          </p:cNvSpPr>
          <p:nvPr>
            <p:ph type="dt" sz="half" idx="10"/>
          </p:nvPr>
        </p:nvSpPr>
        <p:spPr/>
        <p:txBody>
          <a:bodyPr/>
          <a:lstStyle/>
          <a:p>
            <a:fld id="{3A05994F-B708-4CDD-9FAD-1FB834AA18DC}" type="datetimeFigureOut">
              <a:rPr lang="en-US" smtClean="0"/>
              <a:t>6/4/2026</a:t>
            </a:fld>
            <a:endParaRPr lang="en-US"/>
          </a:p>
        </p:txBody>
      </p:sp>
      <p:sp>
        <p:nvSpPr>
          <p:cNvPr id="8" name="Footer Placeholder 7">
            <a:extLst>
              <a:ext uri="{FF2B5EF4-FFF2-40B4-BE49-F238E27FC236}">
                <a16:creationId xmlns:a16="http://schemas.microsoft.com/office/drawing/2014/main" id="{546B80DA-3035-0E81-A13D-C39B9869482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5455A51-A945-B35A-A73D-0A15CC77B8DF}"/>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3365430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417D0-8171-4DEF-971B-60AC1A33F2F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8E4ED8E-E432-D530-4A73-C96028924308}"/>
              </a:ext>
            </a:extLst>
          </p:cNvPr>
          <p:cNvSpPr>
            <a:spLocks noGrp="1"/>
          </p:cNvSpPr>
          <p:nvPr>
            <p:ph type="dt" sz="half" idx="10"/>
          </p:nvPr>
        </p:nvSpPr>
        <p:spPr/>
        <p:txBody>
          <a:bodyPr/>
          <a:lstStyle/>
          <a:p>
            <a:fld id="{3A05994F-B708-4CDD-9FAD-1FB834AA18DC}" type="datetimeFigureOut">
              <a:rPr lang="en-US" smtClean="0"/>
              <a:t>6/4/2026</a:t>
            </a:fld>
            <a:endParaRPr lang="en-US"/>
          </a:p>
        </p:txBody>
      </p:sp>
      <p:sp>
        <p:nvSpPr>
          <p:cNvPr id="4" name="Footer Placeholder 3">
            <a:extLst>
              <a:ext uri="{FF2B5EF4-FFF2-40B4-BE49-F238E27FC236}">
                <a16:creationId xmlns:a16="http://schemas.microsoft.com/office/drawing/2014/main" id="{291CAD3E-5E4D-D4C3-F1B6-242BCF5379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D7994B-5170-8C2F-F3F4-EEAF954C1FF2}"/>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781983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3A47F4-28C4-1109-B9CF-4E9E72D1073F}"/>
              </a:ext>
            </a:extLst>
          </p:cNvPr>
          <p:cNvSpPr>
            <a:spLocks noGrp="1"/>
          </p:cNvSpPr>
          <p:nvPr>
            <p:ph type="dt" sz="half" idx="10"/>
          </p:nvPr>
        </p:nvSpPr>
        <p:spPr/>
        <p:txBody>
          <a:bodyPr/>
          <a:lstStyle/>
          <a:p>
            <a:fld id="{3A05994F-B708-4CDD-9FAD-1FB834AA18DC}" type="datetimeFigureOut">
              <a:rPr lang="en-US" smtClean="0"/>
              <a:t>6/4/2026</a:t>
            </a:fld>
            <a:endParaRPr lang="en-US"/>
          </a:p>
        </p:txBody>
      </p:sp>
      <p:sp>
        <p:nvSpPr>
          <p:cNvPr id="3" name="Footer Placeholder 2">
            <a:extLst>
              <a:ext uri="{FF2B5EF4-FFF2-40B4-BE49-F238E27FC236}">
                <a16:creationId xmlns:a16="http://schemas.microsoft.com/office/drawing/2014/main" id="{6FAA2A3E-B357-0911-B4FE-D8F7E19161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1F8E864-C3FD-89AA-F55B-F43CE8F40D0B}"/>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2103937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ADF5B-5F61-7D4F-4190-AC2F8A2AA9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7D85FBE-F7BA-8F36-9349-DB2A73798B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4485A55-9A27-2BCA-AD26-FE68835554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65FD2F-EBCD-4166-073F-681D7F22CA87}"/>
              </a:ext>
            </a:extLst>
          </p:cNvPr>
          <p:cNvSpPr>
            <a:spLocks noGrp="1"/>
          </p:cNvSpPr>
          <p:nvPr>
            <p:ph type="dt" sz="half" idx="10"/>
          </p:nvPr>
        </p:nvSpPr>
        <p:spPr/>
        <p:txBody>
          <a:bodyPr/>
          <a:lstStyle/>
          <a:p>
            <a:fld id="{3A05994F-B708-4CDD-9FAD-1FB834AA18DC}" type="datetimeFigureOut">
              <a:rPr lang="en-US" smtClean="0"/>
              <a:t>6/4/2026</a:t>
            </a:fld>
            <a:endParaRPr lang="en-US"/>
          </a:p>
        </p:txBody>
      </p:sp>
      <p:sp>
        <p:nvSpPr>
          <p:cNvPr id="6" name="Footer Placeholder 5">
            <a:extLst>
              <a:ext uri="{FF2B5EF4-FFF2-40B4-BE49-F238E27FC236}">
                <a16:creationId xmlns:a16="http://schemas.microsoft.com/office/drawing/2014/main" id="{D854B29A-DCF8-01C7-0825-0551FFB4A2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E30173-31FA-86E1-2F4F-9A7866CC54BE}"/>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6071223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B0C07-0AF5-2D83-BD66-A1BC986A0B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4D815D-F648-B77D-FD6B-AD12106A9C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DDB45FD-8576-6629-C381-B672459D82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5234D3-57E6-C1ED-D72D-769652DF22B1}"/>
              </a:ext>
            </a:extLst>
          </p:cNvPr>
          <p:cNvSpPr>
            <a:spLocks noGrp="1"/>
          </p:cNvSpPr>
          <p:nvPr>
            <p:ph type="dt" sz="half" idx="10"/>
          </p:nvPr>
        </p:nvSpPr>
        <p:spPr/>
        <p:txBody>
          <a:bodyPr/>
          <a:lstStyle/>
          <a:p>
            <a:fld id="{3A05994F-B708-4CDD-9FAD-1FB834AA18DC}" type="datetimeFigureOut">
              <a:rPr lang="en-US" smtClean="0"/>
              <a:t>6/4/2026</a:t>
            </a:fld>
            <a:endParaRPr lang="en-US"/>
          </a:p>
        </p:txBody>
      </p:sp>
      <p:sp>
        <p:nvSpPr>
          <p:cNvPr id="6" name="Footer Placeholder 5">
            <a:extLst>
              <a:ext uri="{FF2B5EF4-FFF2-40B4-BE49-F238E27FC236}">
                <a16:creationId xmlns:a16="http://schemas.microsoft.com/office/drawing/2014/main" id="{D872D58B-01E9-1E1F-645C-165DED6CA5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821000-6090-2964-A5CE-901F8950A2B6}"/>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2611327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D057F-DF19-D999-CB3E-56050D91F41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5F87A0-20DA-EE4F-92DF-AFCDF2F9A35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A4C42C-D354-A1C5-A8E3-D61AC1E87930}"/>
              </a:ext>
            </a:extLst>
          </p:cNvPr>
          <p:cNvSpPr>
            <a:spLocks noGrp="1"/>
          </p:cNvSpPr>
          <p:nvPr>
            <p:ph type="dt" sz="half" idx="10"/>
          </p:nvPr>
        </p:nvSpPr>
        <p:spPr/>
        <p:txBody>
          <a:bodyPr/>
          <a:lstStyle/>
          <a:p>
            <a:fld id="{3A05994F-B708-4CDD-9FAD-1FB834AA18DC}" type="datetimeFigureOut">
              <a:rPr lang="en-US" smtClean="0"/>
              <a:t>6/4/2026</a:t>
            </a:fld>
            <a:endParaRPr lang="en-US"/>
          </a:p>
        </p:txBody>
      </p:sp>
      <p:sp>
        <p:nvSpPr>
          <p:cNvPr id="5" name="Footer Placeholder 4">
            <a:extLst>
              <a:ext uri="{FF2B5EF4-FFF2-40B4-BE49-F238E27FC236}">
                <a16:creationId xmlns:a16="http://schemas.microsoft.com/office/drawing/2014/main" id="{5E64785B-46D4-4B3D-9418-303892BE70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25F32B-871D-9355-E4B3-D0989619D1DA}"/>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2219999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B47811-F310-41DD-8963-BA93AA09283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8723A0-E878-4310-C943-142B20D4F1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8CCBD6-AA21-9F8A-2C5F-821FBD3965DF}"/>
              </a:ext>
            </a:extLst>
          </p:cNvPr>
          <p:cNvSpPr>
            <a:spLocks noGrp="1"/>
          </p:cNvSpPr>
          <p:nvPr>
            <p:ph type="dt" sz="half" idx="10"/>
          </p:nvPr>
        </p:nvSpPr>
        <p:spPr/>
        <p:txBody>
          <a:bodyPr/>
          <a:lstStyle/>
          <a:p>
            <a:fld id="{3A05994F-B708-4CDD-9FAD-1FB834AA18DC}" type="datetimeFigureOut">
              <a:rPr lang="en-US" smtClean="0"/>
              <a:t>6/4/2026</a:t>
            </a:fld>
            <a:endParaRPr lang="en-US"/>
          </a:p>
        </p:txBody>
      </p:sp>
      <p:sp>
        <p:nvSpPr>
          <p:cNvPr id="5" name="Footer Placeholder 4">
            <a:extLst>
              <a:ext uri="{FF2B5EF4-FFF2-40B4-BE49-F238E27FC236}">
                <a16:creationId xmlns:a16="http://schemas.microsoft.com/office/drawing/2014/main" id="{50E19361-9A88-8A1A-93F8-EEDAE8074D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614976-23EC-3E03-0972-049B0D2E188A}"/>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2408472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9382B9-CD85-2324-767C-A089BFCF31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13E238-D560-5D08-C1E0-3506BE9BE0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7B72DD-A488-FDE7-F964-184DE7EC47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A05994F-B708-4CDD-9FAD-1FB834AA18DC}" type="datetimeFigureOut">
              <a:rPr lang="en-US" smtClean="0"/>
              <a:t>6/4/2026</a:t>
            </a:fld>
            <a:endParaRPr lang="en-US"/>
          </a:p>
        </p:txBody>
      </p:sp>
      <p:sp>
        <p:nvSpPr>
          <p:cNvPr id="5" name="Footer Placeholder 4">
            <a:extLst>
              <a:ext uri="{FF2B5EF4-FFF2-40B4-BE49-F238E27FC236}">
                <a16:creationId xmlns:a16="http://schemas.microsoft.com/office/drawing/2014/main" id="{4C8FA332-543C-6F57-45AA-ACF375316E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BC60812-A2BF-DD0D-7C73-ECEE32084A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34C46F-8080-4C31-9119-FFFC8B91DB26}" type="slidenum">
              <a:rPr lang="en-US" smtClean="0"/>
              <a:t>‹#›</a:t>
            </a:fld>
            <a:endParaRPr lang="en-US"/>
          </a:p>
        </p:txBody>
      </p:sp>
    </p:spTree>
    <p:extLst>
      <p:ext uri="{BB962C8B-B14F-4D97-AF65-F5344CB8AC3E}">
        <p14:creationId xmlns:p14="http://schemas.microsoft.com/office/powerpoint/2010/main" val="31747919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Digital map with light leak background">
            <a:extLst>
              <a:ext uri="{FF2B5EF4-FFF2-40B4-BE49-F238E27FC236}">
                <a16:creationId xmlns:a16="http://schemas.microsoft.com/office/drawing/2014/main" id="{251DEF39-0BA0-63B0-7596-4B7CBF670F41}"/>
              </a:ext>
            </a:extLst>
          </p:cNvPr>
          <p:cNvPicPr>
            <a:picLocks noChangeAspect="1"/>
          </p:cNvPicPr>
          <p:nvPr/>
        </p:nvPicPr>
        <p:blipFill>
          <a:blip r:embed="rId2"/>
          <a:srcRect l="2942" r="2941" b="-1"/>
          <a:stretch>
            <a:fillRect/>
          </a:stretch>
        </p:blipFill>
        <p:spPr>
          <a:xfrm>
            <a:off x="2522358" y="10"/>
            <a:ext cx="9669642" cy="6857990"/>
          </a:xfrm>
          <a:prstGeom prst="rect">
            <a:avLst/>
          </a:prstGeom>
        </p:spPr>
      </p:pic>
      <p:sp>
        <p:nvSpPr>
          <p:cNvPr id="60" name="Rectangle 59">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88AD308-938A-DEC8-A051-29B7DEEF87A0}"/>
              </a:ext>
            </a:extLst>
          </p:cNvPr>
          <p:cNvSpPr>
            <a:spLocks noGrp="1"/>
          </p:cNvSpPr>
          <p:nvPr>
            <p:ph type="ctrTitle"/>
          </p:nvPr>
        </p:nvSpPr>
        <p:spPr>
          <a:xfrm>
            <a:off x="952228" y="743447"/>
            <a:ext cx="3973385" cy="3692028"/>
          </a:xfrm>
          <a:noFill/>
        </p:spPr>
        <p:txBody>
          <a:bodyPr>
            <a:normAutofit/>
          </a:bodyPr>
          <a:lstStyle/>
          <a:p>
            <a:pPr algn="l"/>
            <a:r>
              <a:rPr lang="en-US" sz="4000" b="1"/>
              <a:t>Global AI Adoption &amp; Workforce Impact Analysis</a:t>
            </a:r>
            <a:br>
              <a:rPr lang="en-US" sz="4000" b="1"/>
            </a:br>
            <a:endParaRPr lang="en-US" sz="4000"/>
          </a:p>
        </p:txBody>
      </p:sp>
      <p:sp>
        <p:nvSpPr>
          <p:cNvPr id="3" name="Subtitle 2">
            <a:extLst>
              <a:ext uri="{FF2B5EF4-FFF2-40B4-BE49-F238E27FC236}">
                <a16:creationId xmlns:a16="http://schemas.microsoft.com/office/drawing/2014/main" id="{91D723F8-6F5A-81DF-D76F-002707C26CD3}"/>
              </a:ext>
            </a:extLst>
          </p:cNvPr>
          <p:cNvSpPr>
            <a:spLocks noGrp="1"/>
          </p:cNvSpPr>
          <p:nvPr>
            <p:ph type="subTitle" idx="1"/>
          </p:nvPr>
        </p:nvSpPr>
        <p:spPr>
          <a:xfrm>
            <a:off x="952229" y="4629234"/>
            <a:ext cx="3973386" cy="1485319"/>
          </a:xfrm>
          <a:noFill/>
        </p:spPr>
        <p:txBody>
          <a:bodyPr>
            <a:normAutofit/>
          </a:bodyPr>
          <a:lstStyle/>
          <a:p>
            <a:pPr algn="l"/>
            <a:r>
              <a:rPr lang="en-US" sz="2000" dirty="0"/>
              <a:t>Sara Shockley</a:t>
            </a:r>
          </a:p>
          <a:p>
            <a:pPr algn="l"/>
            <a:r>
              <a:rPr lang="en-US" sz="2000" dirty="0"/>
              <a:t>Supra Coder DDI Apr2026 Cohort</a:t>
            </a:r>
          </a:p>
          <a:p>
            <a:pPr algn="l"/>
            <a:r>
              <a:rPr lang="en-US" sz="2000" dirty="0"/>
              <a:t>CAO: 09JUN26</a:t>
            </a:r>
          </a:p>
        </p:txBody>
      </p:sp>
    </p:spTree>
    <p:extLst>
      <p:ext uri="{BB962C8B-B14F-4D97-AF65-F5344CB8AC3E}">
        <p14:creationId xmlns:p14="http://schemas.microsoft.com/office/powerpoint/2010/main" val="1654167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5D7F64A8-D625-4F61-A290-B499BB62A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87F7A5-2D46-FD8A-1C28-886C37004F09}"/>
              </a:ext>
            </a:extLst>
          </p:cNvPr>
          <p:cNvSpPr>
            <a:spLocks noGrp="1"/>
          </p:cNvSpPr>
          <p:nvPr>
            <p:ph type="title"/>
          </p:nvPr>
        </p:nvSpPr>
        <p:spPr>
          <a:xfrm>
            <a:off x="2187363" y="1671569"/>
            <a:ext cx="5801917" cy="2228760"/>
          </a:xfrm>
        </p:spPr>
        <p:txBody>
          <a:bodyPr anchor="b">
            <a:normAutofit/>
          </a:bodyPr>
          <a:lstStyle/>
          <a:p>
            <a:r>
              <a:rPr lang="en-US" sz="4000"/>
              <a:t>Contents</a:t>
            </a:r>
          </a:p>
        </p:txBody>
      </p:sp>
      <p:pic>
        <p:nvPicPr>
          <p:cNvPr id="22" name="Graphic 21" descr="Head with Gears">
            <a:extLst>
              <a:ext uri="{FF2B5EF4-FFF2-40B4-BE49-F238E27FC236}">
                <a16:creationId xmlns:a16="http://schemas.microsoft.com/office/drawing/2014/main" id="{26EDC712-8DA1-0CC3-05E7-CD13A60AE68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6948" y="2694018"/>
            <a:ext cx="1198532" cy="1198532"/>
          </a:xfrm>
          <a:prstGeom prst="rect">
            <a:avLst/>
          </a:prstGeom>
        </p:spPr>
      </p:pic>
      <p:sp>
        <p:nvSpPr>
          <p:cNvPr id="3" name="Content Placeholder 2">
            <a:extLst>
              <a:ext uri="{FF2B5EF4-FFF2-40B4-BE49-F238E27FC236}">
                <a16:creationId xmlns:a16="http://schemas.microsoft.com/office/drawing/2014/main" id="{52372ED7-0F37-B7B8-0D36-B362C59DC7E7}"/>
              </a:ext>
            </a:extLst>
          </p:cNvPr>
          <p:cNvSpPr>
            <a:spLocks noGrp="1"/>
          </p:cNvSpPr>
          <p:nvPr>
            <p:ph idx="1"/>
          </p:nvPr>
        </p:nvSpPr>
        <p:spPr>
          <a:xfrm>
            <a:off x="2187364" y="4072044"/>
            <a:ext cx="5801917" cy="2057045"/>
          </a:xfrm>
        </p:spPr>
        <p:txBody>
          <a:bodyPr>
            <a:normAutofit/>
          </a:bodyPr>
          <a:lstStyle/>
          <a:p>
            <a:r>
              <a:rPr lang="en-US" sz="2000" dirty="0"/>
              <a:t>Study Overview</a:t>
            </a:r>
          </a:p>
          <a:p>
            <a:r>
              <a:rPr lang="en-US" sz="2000" dirty="0"/>
              <a:t>AI Adoption Landscape</a:t>
            </a:r>
          </a:p>
          <a:p>
            <a:r>
              <a:rPr lang="en-US" sz="2000" dirty="0"/>
              <a:t>AI Maturity &amp; Business Outcomes</a:t>
            </a:r>
          </a:p>
          <a:p>
            <a:r>
              <a:rPr lang="en-US" sz="2000" dirty="0"/>
              <a:t>Workforce Impacts</a:t>
            </a:r>
          </a:p>
          <a:p>
            <a:r>
              <a:rPr lang="en-US" sz="2000" dirty="0"/>
              <a:t>Recommendations and Way Forward</a:t>
            </a:r>
          </a:p>
          <a:p>
            <a:endParaRPr lang="en-US" sz="2000" dirty="0"/>
          </a:p>
          <a:p>
            <a:endParaRPr lang="en-US" sz="2000" dirty="0"/>
          </a:p>
        </p:txBody>
      </p:sp>
      <p:pic>
        <p:nvPicPr>
          <p:cNvPr id="24" name="Graphic 23" descr="Head with Gears">
            <a:extLst>
              <a:ext uri="{FF2B5EF4-FFF2-40B4-BE49-F238E27FC236}">
                <a16:creationId xmlns:a16="http://schemas.microsoft.com/office/drawing/2014/main" id="{BAFE4073-8B51-4CBE-81BD-34981FCC96A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a:alphaModFix amt="15000"/>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2472126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5690FE-FB84-BC27-A623-2B0C4F9679DB}"/>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6DC3CB-CDD4-2581-FD20-B30D76601A79}"/>
              </a:ext>
            </a:extLst>
          </p:cNvPr>
          <p:cNvSpPr>
            <a:spLocks noGrp="1"/>
          </p:cNvSpPr>
          <p:nvPr>
            <p:ph type="title"/>
          </p:nvPr>
        </p:nvSpPr>
        <p:spPr>
          <a:xfrm>
            <a:off x="640080" y="325369"/>
            <a:ext cx="4368602" cy="1956841"/>
          </a:xfrm>
        </p:spPr>
        <p:txBody>
          <a:bodyPr vert="horz" lIns="91440" tIns="45720" rIns="91440" bIns="45720" rtlCol="0" anchor="b">
            <a:normAutofit/>
          </a:bodyPr>
          <a:lstStyle/>
          <a:p>
            <a:r>
              <a:rPr lang="en-US" sz="3000" dirty="0"/>
              <a:t>Study Overview: </a:t>
            </a:r>
            <a:br>
              <a:rPr lang="en-US" sz="3000" dirty="0"/>
            </a:br>
            <a:r>
              <a:rPr lang="en-US" sz="3000" dirty="0"/>
              <a:t>Measuring AI Adoption and Organizational Impact</a:t>
            </a:r>
          </a:p>
        </p:txBody>
      </p:sp>
      <p:sp>
        <p:nvSpPr>
          <p:cNvPr id="32"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ntent Placeholder 2">
            <a:extLst>
              <a:ext uri="{FF2B5EF4-FFF2-40B4-BE49-F238E27FC236}">
                <a16:creationId xmlns:a16="http://schemas.microsoft.com/office/drawing/2014/main" id="{60ECC35B-21E8-A37F-CE65-8F422F9521E6}"/>
              </a:ext>
            </a:extLst>
          </p:cNvPr>
          <p:cNvSpPr txBox="1">
            <a:spLocks/>
          </p:cNvSpPr>
          <p:nvPr/>
        </p:nvSpPr>
        <p:spPr>
          <a:xfrm>
            <a:off x="340467" y="2742033"/>
            <a:ext cx="7237380" cy="39116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dirty="0"/>
              <a:t>Dataset:</a:t>
            </a:r>
            <a:r>
              <a:rPr lang="en-US" sz="1600" dirty="0"/>
              <a:t> Global AI Adoption &amp; Workforce Impact Dataset (Kaggle)</a:t>
            </a:r>
          </a:p>
          <a:p>
            <a:pPr lvl="1"/>
            <a:r>
              <a:rPr lang="en-US" sz="1300" dirty="0"/>
              <a:t>Company-level survey data across industries and countries</a:t>
            </a:r>
          </a:p>
          <a:p>
            <a:pPr lvl="1"/>
            <a:r>
              <a:rPr lang="en-US" sz="1300" dirty="0"/>
              <a:t>Maturity level, adoption rates, investment, and productivity outcomes</a:t>
            </a:r>
            <a:endParaRPr lang="en-US" sz="1600" dirty="0"/>
          </a:p>
          <a:p>
            <a:r>
              <a:rPr lang="en-US" sz="1600" b="1" dirty="0"/>
              <a:t>Study Goal: </a:t>
            </a:r>
            <a:r>
              <a:rPr lang="en-US" sz="1600" dirty="0"/>
              <a:t>Evaluate factors associated with successful AI implementation</a:t>
            </a:r>
          </a:p>
          <a:p>
            <a:pPr lvl="1"/>
            <a:r>
              <a:rPr lang="en-US" sz="1300" dirty="0"/>
              <a:t>Identify Industries and regions leading AI adoption</a:t>
            </a:r>
          </a:p>
          <a:p>
            <a:pPr lvl="1"/>
            <a:r>
              <a:rPr lang="en-US" sz="1300" dirty="0"/>
              <a:t>Analyze relationships between AI maturity, investment, and business outcomes</a:t>
            </a:r>
          </a:p>
          <a:p>
            <a:pPr lvl="1"/>
            <a:r>
              <a:rPr lang="en-US" sz="1300" dirty="0"/>
              <a:t>Assess workforce impacts including displacement and reskilling</a:t>
            </a:r>
          </a:p>
          <a:p>
            <a:r>
              <a:rPr lang="en-US" sz="1600" b="1" dirty="0"/>
              <a:t>Analytical approach: </a:t>
            </a:r>
          </a:p>
          <a:p>
            <a:pPr lvl="1"/>
            <a:r>
              <a:rPr lang="en-US" sz="1300" dirty="0"/>
              <a:t>Python-based exploratory data analysis</a:t>
            </a:r>
          </a:p>
          <a:p>
            <a:pPr lvl="1"/>
            <a:r>
              <a:rPr lang="en-US" sz="1300" dirty="0"/>
              <a:t>Correlation analysis to evaluate relationships</a:t>
            </a:r>
          </a:p>
          <a:p>
            <a:r>
              <a:rPr lang="en-US" sz="1600" b="1" dirty="0"/>
              <a:t>Data Considerations and </a:t>
            </a:r>
            <a:r>
              <a:rPr lang="en-US" sz="1600" b="1" dirty="0" err="1"/>
              <a:t>LimFacs</a:t>
            </a:r>
            <a:r>
              <a:rPr lang="en-US" sz="1600" b="1" dirty="0"/>
              <a:t>:</a:t>
            </a:r>
          </a:p>
          <a:p>
            <a:pPr lvl="1"/>
            <a:r>
              <a:rPr lang="en-US" sz="1300" dirty="0"/>
              <a:t>Synthetic dataset designed for analysis and modeling</a:t>
            </a:r>
          </a:p>
          <a:p>
            <a:pPr lvl="1"/>
            <a:r>
              <a:rPr lang="en-US" sz="1300" dirty="0"/>
              <a:t>Finding identify trends, not direct causation</a:t>
            </a:r>
          </a:p>
          <a:p>
            <a:pPr lvl="1"/>
            <a:r>
              <a:rPr lang="en-US" sz="1300" dirty="0"/>
              <a:t>Some dataset definitions lack documentation (maturity scoring methodology)</a:t>
            </a:r>
          </a:p>
          <a:p>
            <a:endParaRPr lang="en-US" sz="1600" dirty="0"/>
          </a:p>
          <a:p>
            <a:endParaRPr lang="en-US" sz="1600" dirty="0"/>
          </a:p>
        </p:txBody>
      </p:sp>
      <p:pic>
        <p:nvPicPr>
          <p:cNvPr id="6" name="Picture 5" descr="A digital map">
            <a:extLst>
              <a:ext uri="{FF2B5EF4-FFF2-40B4-BE49-F238E27FC236}">
                <a16:creationId xmlns:a16="http://schemas.microsoft.com/office/drawing/2014/main" id="{3AF2131D-BFAD-3E78-699C-9BA8959FA482}"/>
              </a:ext>
            </a:extLst>
          </p:cNvPr>
          <p:cNvPicPr>
            <a:picLocks noChangeAspect="1"/>
          </p:cNvPicPr>
          <p:nvPr/>
        </p:nvPicPr>
        <p:blipFill>
          <a:blip r:embed="rId3"/>
          <a:srcRect l="27621" r="5426" b="-1"/>
          <a:stretch>
            <a:fillRect/>
          </a:stretch>
        </p:blipFill>
        <p:spPr>
          <a:xfrm>
            <a:off x="7308333" y="10"/>
            <a:ext cx="4882144"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136209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88263A24-0C1F-4677-B43C-4AE14E276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Rectangle 24">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3E06DDA-46D6-E501-36EC-8966E74475A9}"/>
              </a:ext>
            </a:extLst>
          </p:cNvPr>
          <p:cNvSpPr>
            <a:spLocks noGrp="1"/>
          </p:cNvSpPr>
          <p:nvPr>
            <p:ph type="title"/>
          </p:nvPr>
        </p:nvSpPr>
        <p:spPr>
          <a:xfrm>
            <a:off x="868680" y="405575"/>
            <a:ext cx="5001768" cy="1371600"/>
          </a:xfrm>
        </p:spPr>
        <p:txBody>
          <a:bodyPr vert="horz" lIns="91440" tIns="45720" rIns="91440" bIns="45720" rtlCol="0" anchor="ctr">
            <a:normAutofit/>
          </a:bodyPr>
          <a:lstStyle/>
          <a:p>
            <a:r>
              <a:rPr lang="en-US" sz="3600" dirty="0"/>
              <a:t>AI Adoption Landscape: </a:t>
            </a:r>
            <a:r>
              <a:rPr lang="en-US" sz="2000" dirty="0"/>
              <a:t>Variation Across Regions and Industries</a:t>
            </a:r>
            <a:endParaRPr lang="en-US" sz="3600" dirty="0"/>
          </a:p>
        </p:txBody>
      </p:sp>
      <p:sp>
        <p:nvSpPr>
          <p:cNvPr id="3" name="Content Placeholder 2">
            <a:extLst>
              <a:ext uri="{FF2B5EF4-FFF2-40B4-BE49-F238E27FC236}">
                <a16:creationId xmlns:a16="http://schemas.microsoft.com/office/drawing/2014/main" id="{29CA610D-5E9C-F79C-6F16-A7B38AF8142A}"/>
              </a:ext>
            </a:extLst>
          </p:cNvPr>
          <p:cNvSpPr>
            <a:spLocks noGrp="1"/>
          </p:cNvSpPr>
          <p:nvPr>
            <p:ph idx="1"/>
          </p:nvPr>
        </p:nvSpPr>
        <p:spPr>
          <a:xfrm>
            <a:off x="6382512" y="498698"/>
            <a:ext cx="4940808" cy="1185353"/>
          </a:xfrm>
        </p:spPr>
        <p:txBody>
          <a:bodyPr vert="horz" lIns="91440" tIns="45720" rIns="91440" bIns="45720" rtlCol="0" anchor="ctr">
            <a:normAutofit/>
          </a:bodyPr>
          <a:lstStyle/>
          <a:p>
            <a:pPr marL="0" indent="0">
              <a:buNone/>
            </a:pPr>
            <a:r>
              <a:rPr lang="en-US" sz="1800" dirty="0"/>
              <a:t>Before evaluating outcomes, the first step was understanding where adoption is occurring</a:t>
            </a:r>
          </a:p>
        </p:txBody>
      </p:sp>
      <p:sp>
        <p:nvSpPr>
          <p:cNvPr id="26" name="Rectangle 25">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86984" y="1071836"/>
            <a:ext cx="1021458"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36CD9152-EB5B-853B-2FE1-E0A3AAD03239}"/>
              </a:ext>
            </a:extLst>
          </p:cNvPr>
          <p:cNvSpPr/>
          <p:nvPr/>
        </p:nvSpPr>
        <p:spPr>
          <a:xfrm>
            <a:off x="0" y="2099968"/>
            <a:ext cx="12192000" cy="3229678"/>
          </a:xfrm>
          <a:prstGeom prst="rect">
            <a:avLst/>
          </a:prstGeom>
          <a:solidFill>
            <a:srgbClr val="F6F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EA8FFFE-90FB-F66D-266A-E5DF38959F7F}"/>
              </a:ext>
            </a:extLst>
          </p:cNvPr>
          <p:cNvPicPr>
            <a:picLocks noChangeAspect="1"/>
          </p:cNvPicPr>
          <p:nvPr/>
        </p:nvPicPr>
        <p:blipFill>
          <a:blip r:embed="rId3"/>
          <a:stretch>
            <a:fillRect/>
          </a:stretch>
        </p:blipFill>
        <p:spPr>
          <a:xfrm>
            <a:off x="6003241" y="2182753"/>
            <a:ext cx="5965677" cy="3146893"/>
          </a:xfrm>
          <a:prstGeom prst="rect">
            <a:avLst/>
          </a:prstGeom>
        </p:spPr>
      </p:pic>
      <p:grpSp>
        <p:nvGrpSpPr>
          <p:cNvPr id="9" name="Group 8">
            <a:extLst>
              <a:ext uri="{FF2B5EF4-FFF2-40B4-BE49-F238E27FC236}">
                <a16:creationId xmlns:a16="http://schemas.microsoft.com/office/drawing/2014/main" id="{021F71EF-572C-4257-FF9D-BBD2E9D4D483}"/>
              </a:ext>
            </a:extLst>
          </p:cNvPr>
          <p:cNvGrpSpPr/>
          <p:nvPr/>
        </p:nvGrpSpPr>
        <p:grpSpPr>
          <a:xfrm>
            <a:off x="934360" y="5551663"/>
            <a:ext cx="10331734" cy="1077737"/>
            <a:chOff x="1222401" y="5993992"/>
            <a:chExt cx="9978013" cy="727810"/>
          </a:xfrm>
        </p:grpSpPr>
        <p:sp>
          <p:nvSpPr>
            <p:cNvPr id="7" name="Rectangle 6">
              <a:extLst>
                <a:ext uri="{FF2B5EF4-FFF2-40B4-BE49-F238E27FC236}">
                  <a16:creationId xmlns:a16="http://schemas.microsoft.com/office/drawing/2014/main" id="{D3B9B393-56E3-A8D0-6B17-D88F18875878}"/>
                </a:ext>
              </a:extLst>
            </p:cNvPr>
            <p:cNvSpPr/>
            <p:nvPr/>
          </p:nvSpPr>
          <p:spPr>
            <a:xfrm>
              <a:off x="1222401" y="5993992"/>
              <a:ext cx="9978013" cy="727810"/>
            </a:xfrm>
            <a:prstGeom prst="rect">
              <a:avLst/>
            </a:prstGeom>
            <a:solidFill>
              <a:srgbClr val="C7D7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A06BF15-B7EE-00BB-2950-27037AB7EE6E}"/>
                </a:ext>
              </a:extLst>
            </p:cNvPr>
            <p:cNvSpPr txBox="1"/>
            <p:nvPr/>
          </p:nvSpPr>
          <p:spPr>
            <a:xfrm>
              <a:off x="1306286" y="6139683"/>
              <a:ext cx="9817239" cy="436476"/>
            </a:xfrm>
            <a:prstGeom prst="rect">
              <a:avLst/>
            </a:prstGeom>
            <a:noFill/>
            <a:ln>
              <a:noFill/>
            </a:ln>
          </p:spPr>
          <p:txBody>
            <a:bodyPr wrap="square" rtlCol="0">
              <a:spAutoFit/>
            </a:bodyPr>
            <a:lstStyle/>
            <a:p>
              <a:r>
                <a:rPr lang="en-US" b="1" dirty="0"/>
                <a:t>Key Finding: </a:t>
              </a:r>
              <a:r>
                <a:rPr lang="en-US" dirty="0"/>
                <a:t>AI adoption showed a broad global footprint with clear industry differences. Technology and Finance led average adoption rates, highlighting variation in AI implementation across sectors.</a:t>
              </a:r>
            </a:p>
          </p:txBody>
        </p:sp>
      </p:grpSp>
      <p:pic>
        <p:nvPicPr>
          <p:cNvPr id="12" name="Picture 11">
            <a:extLst>
              <a:ext uri="{FF2B5EF4-FFF2-40B4-BE49-F238E27FC236}">
                <a16:creationId xmlns:a16="http://schemas.microsoft.com/office/drawing/2014/main" id="{F8A84465-6882-8302-96FF-A5FB4BCE0DE6}"/>
              </a:ext>
            </a:extLst>
          </p:cNvPr>
          <p:cNvPicPr>
            <a:picLocks noChangeAspect="1"/>
          </p:cNvPicPr>
          <p:nvPr/>
        </p:nvPicPr>
        <p:blipFill>
          <a:blip r:embed="rId4"/>
          <a:stretch>
            <a:fillRect/>
          </a:stretch>
        </p:blipFill>
        <p:spPr>
          <a:xfrm>
            <a:off x="558792" y="2354703"/>
            <a:ext cx="5198174" cy="2865135"/>
          </a:xfrm>
          <a:prstGeom prst="rect">
            <a:avLst/>
          </a:prstGeom>
        </p:spPr>
      </p:pic>
      <p:sp>
        <p:nvSpPr>
          <p:cNvPr id="28" name="Left Brace 27">
            <a:extLst>
              <a:ext uri="{FF2B5EF4-FFF2-40B4-BE49-F238E27FC236}">
                <a16:creationId xmlns:a16="http://schemas.microsoft.com/office/drawing/2014/main" id="{CD14936D-F9CA-36B9-BF06-C23B1E526DD6}"/>
              </a:ext>
            </a:extLst>
          </p:cNvPr>
          <p:cNvSpPr/>
          <p:nvPr/>
        </p:nvSpPr>
        <p:spPr>
          <a:xfrm>
            <a:off x="622800" y="2773063"/>
            <a:ext cx="103550" cy="301732"/>
          </a:xfrm>
          <a:prstGeom prst="leftBrace">
            <a:avLst/>
          </a:prstGeom>
          <a:ln>
            <a:solidFill>
              <a:srgbClr val="E9713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9" name="TextBox 28">
            <a:extLst>
              <a:ext uri="{FF2B5EF4-FFF2-40B4-BE49-F238E27FC236}">
                <a16:creationId xmlns:a16="http://schemas.microsoft.com/office/drawing/2014/main" id="{8FC4F569-A296-F7AA-6C7A-20C3FE9C9752}"/>
              </a:ext>
            </a:extLst>
          </p:cNvPr>
          <p:cNvSpPr txBox="1"/>
          <p:nvPr/>
        </p:nvSpPr>
        <p:spPr>
          <a:xfrm>
            <a:off x="36481" y="2662471"/>
            <a:ext cx="750157" cy="507831"/>
          </a:xfrm>
          <a:prstGeom prst="rect">
            <a:avLst/>
          </a:prstGeom>
          <a:noFill/>
        </p:spPr>
        <p:txBody>
          <a:bodyPr wrap="square" rtlCol="0">
            <a:spAutoFit/>
          </a:bodyPr>
          <a:lstStyle/>
          <a:p>
            <a:r>
              <a:rPr lang="en-US" sz="900" dirty="0"/>
              <a:t>Early Adoption Leaders</a:t>
            </a:r>
          </a:p>
        </p:txBody>
      </p:sp>
      <p:sp>
        <p:nvSpPr>
          <p:cNvPr id="30" name="TextBox 29">
            <a:extLst>
              <a:ext uri="{FF2B5EF4-FFF2-40B4-BE49-F238E27FC236}">
                <a16:creationId xmlns:a16="http://schemas.microsoft.com/office/drawing/2014/main" id="{6E6DAD5E-0469-A58C-B554-735B4212218A}"/>
              </a:ext>
            </a:extLst>
          </p:cNvPr>
          <p:cNvSpPr txBox="1"/>
          <p:nvPr/>
        </p:nvSpPr>
        <p:spPr>
          <a:xfrm>
            <a:off x="6382512" y="4962144"/>
            <a:ext cx="4553712" cy="246221"/>
          </a:xfrm>
          <a:prstGeom prst="rect">
            <a:avLst/>
          </a:prstGeom>
          <a:noFill/>
        </p:spPr>
        <p:txBody>
          <a:bodyPr wrap="square" rtlCol="0">
            <a:spAutoFit/>
          </a:bodyPr>
          <a:lstStyle/>
          <a:p>
            <a:pPr algn="ctr"/>
            <a:r>
              <a:rPr lang="en-US" sz="1000" i="1" dirty="0"/>
              <a:t>Company-level data aggregated into country averages</a:t>
            </a:r>
          </a:p>
        </p:txBody>
      </p:sp>
    </p:spTree>
    <p:extLst>
      <p:ext uri="{BB962C8B-B14F-4D97-AF65-F5344CB8AC3E}">
        <p14:creationId xmlns:p14="http://schemas.microsoft.com/office/powerpoint/2010/main" val="10157181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9" name="Rectangle 38">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8A02AE3-1D02-D7AA-D633-F7C2384604A5}"/>
              </a:ext>
            </a:extLst>
          </p:cNvPr>
          <p:cNvSpPr>
            <a:spLocks noGrp="1"/>
          </p:cNvSpPr>
          <p:nvPr>
            <p:ph type="title"/>
          </p:nvPr>
        </p:nvSpPr>
        <p:spPr>
          <a:xfrm>
            <a:off x="901690" y="405575"/>
            <a:ext cx="6430414" cy="1371600"/>
          </a:xfrm>
        </p:spPr>
        <p:txBody>
          <a:bodyPr vert="horz" lIns="91440" tIns="45720" rIns="91440" bIns="45720" rtlCol="0" anchor="ctr">
            <a:normAutofit/>
          </a:bodyPr>
          <a:lstStyle/>
          <a:p>
            <a:r>
              <a:rPr lang="en-US" sz="3600" kern="1200" dirty="0">
                <a:solidFill>
                  <a:schemeClr val="tx1"/>
                </a:solidFill>
                <a:latin typeface="+mj-lt"/>
                <a:ea typeface="+mj-ea"/>
                <a:cs typeface="+mj-cs"/>
              </a:rPr>
              <a:t>AI Maturity &amp; Business Outcomes</a:t>
            </a:r>
          </a:p>
        </p:txBody>
      </p:sp>
      <p:sp>
        <p:nvSpPr>
          <p:cNvPr id="3" name="Content Placeholder 2">
            <a:extLst>
              <a:ext uri="{FF2B5EF4-FFF2-40B4-BE49-F238E27FC236}">
                <a16:creationId xmlns:a16="http://schemas.microsoft.com/office/drawing/2014/main" id="{EBB29A5B-9800-983D-7DB9-E503BCEA5412}"/>
              </a:ext>
            </a:extLst>
          </p:cNvPr>
          <p:cNvSpPr>
            <a:spLocks noGrp="1"/>
          </p:cNvSpPr>
          <p:nvPr>
            <p:ph idx="1"/>
          </p:nvPr>
        </p:nvSpPr>
        <p:spPr>
          <a:xfrm>
            <a:off x="7924796" y="498698"/>
            <a:ext cx="2893382" cy="1185353"/>
          </a:xfrm>
        </p:spPr>
        <p:txBody>
          <a:bodyPr vert="horz" lIns="91440" tIns="45720" rIns="91440" bIns="45720" rtlCol="0" anchor="ctr">
            <a:normAutofit fontScale="92500" lnSpcReduction="10000"/>
          </a:bodyPr>
          <a:lstStyle/>
          <a:p>
            <a:pPr marL="0" indent="0">
              <a:buNone/>
            </a:pPr>
            <a:r>
              <a:rPr lang="en-US" sz="1800" dirty="0"/>
              <a:t>Evaluating whether AI implementation maturity is associated with measurable improvements in organizational performance</a:t>
            </a:r>
            <a:endParaRPr lang="en-US" sz="1800" kern="1200" dirty="0">
              <a:solidFill>
                <a:schemeClr val="tx1"/>
              </a:solidFill>
              <a:latin typeface="+mn-lt"/>
              <a:ea typeface="+mn-ea"/>
              <a:cs typeface="+mn-cs"/>
            </a:endParaRPr>
          </a:p>
        </p:txBody>
      </p:sp>
      <p:sp>
        <p:nvSpPr>
          <p:cNvPr id="41" name="Rectangle 40">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3" name="Rectangle 42">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26032" y="1067264"/>
            <a:ext cx="1021458"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Picture 4">
            <a:extLst>
              <a:ext uri="{FF2B5EF4-FFF2-40B4-BE49-F238E27FC236}">
                <a16:creationId xmlns:a16="http://schemas.microsoft.com/office/drawing/2014/main" id="{B096357F-A1F4-0E28-436F-D2C4BA37AE1A}"/>
              </a:ext>
            </a:extLst>
          </p:cNvPr>
          <p:cNvPicPr>
            <a:picLocks noChangeAspect="1"/>
          </p:cNvPicPr>
          <p:nvPr/>
        </p:nvPicPr>
        <p:blipFill>
          <a:blip r:embed="rId3"/>
          <a:srcRect l="2153" r="644" b="1"/>
          <a:stretch>
            <a:fillRect/>
          </a:stretch>
        </p:blipFill>
        <p:spPr>
          <a:xfrm>
            <a:off x="2676282" y="1971072"/>
            <a:ext cx="6494348" cy="3991990"/>
          </a:xfrm>
          <a:prstGeom prst="rect">
            <a:avLst/>
          </a:prstGeom>
        </p:spPr>
      </p:pic>
      <p:grpSp>
        <p:nvGrpSpPr>
          <p:cNvPr id="7" name="Group 6">
            <a:extLst>
              <a:ext uri="{FF2B5EF4-FFF2-40B4-BE49-F238E27FC236}">
                <a16:creationId xmlns:a16="http://schemas.microsoft.com/office/drawing/2014/main" id="{5810047C-8B4E-526F-4DA6-E3A105328308}"/>
              </a:ext>
            </a:extLst>
          </p:cNvPr>
          <p:cNvGrpSpPr/>
          <p:nvPr/>
        </p:nvGrpSpPr>
        <p:grpSpPr>
          <a:xfrm>
            <a:off x="934360" y="5913119"/>
            <a:ext cx="10331734" cy="813817"/>
            <a:chOff x="1222401" y="5468089"/>
            <a:chExt cx="9978013" cy="1253713"/>
          </a:xfrm>
        </p:grpSpPr>
        <p:sp>
          <p:nvSpPr>
            <p:cNvPr id="8" name="Rectangle 7">
              <a:extLst>
                <a:ext uri="{FF2B5EF4-FFF2-40B4-BE49-F238E27FC236}">
                  <a16:creationId xmlns:a16="http://schemas.microsoft.com/office/drawing/2014/main" id="{E577087C-5C6A-2776-A04E-45971388940C}"/>
                </a:ext>
              </a:extLst>
            </p:cNvPr>
            <p:cNvSpPr/>
            <p:nvPr/>
          </p:nvSpPr>
          <p:spPr>
            <a:xfrm>
              <a:off x="1222401" y="5468089"/>
              <a:ext cx="9978013" cy="1253713"/>
            </a:xfrm>
            <a:prstGeom prst="rect">
              <a:avLst/>
            </a:prstGeom>
            <a:solidFill>
              <a:srgbClr val="C7D7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0CCECA2-BD6C-1033-B581-554783600C05}"/>
                </a:ext>
              </a:extLst>
            </p:cNvPr>
            <p:cNvSpPr txBox="1"/>
            <p:nvPr/>
          </p:nvSpPr>
          <p:spPr>
            <a:xfrm>
              <a:off x="1306286" y="5557435"/>
              <a:ext cx="9817239" cy="995694"/>
            </a:xfrm>
            <a:prstGeom prst="rect">
              <a:avLst/>
            </a:prstGeom>
            <a:noFill/>
            <a:ln>
              <a:noFill/>
            </a:ln>
          </p:spPr>
          <p:txBody>
            <a:bodyPr wrap="square" rtlCol="0">
              <a:spAutoFit/>
            </a:bodyPr>
            <a:lstStyle/>
            <a:p>
              <a:r>
                <a:rPr lang="en-US" b="1" dirty="0"/>
                <a:t>Key Finding: </a:t>
              </a:r>
              <a:r>
                <a:rPr lang="en-US" dirty="0"/>
                <a:t>Higher AI maturity was associated with stronger business outcomes, with </a:t>
              </a:r>
              <a:r>
                <a:rPr lang="en-US" b="1" dirty="0"/>
                <a:t>full adoption associated with the greatest improvements</a:t>
              </a:r>
              <a:r>
                <a:rPr lang="en-US" dirty="0"/>
                <a:t> across productivity, revenue, and cost efficiency</a:t>
              </a:r>
            </a:p>
          </p:txBody>
        </p:sp>
      </p:grpSp>
      <p:grpSp>
        <p:nvGrpSpPr>
          <p:cNvPr id="15" name="Group 14">
            <a:extLst>
              <a:ext uri="{FF2B5EF4-FFF2-40B4-BE49-F238E27FC236}">
                <a16:creationId xmlns:a16="http://schemas.microsoft.com/office/drawing/2014/main" id="{B7DBBB07-B288-0EC2-91FB-4289FC05E172}"/>
              </a:ext>
            </a:extLst>
          </p:cNvPr>
          <p:cNvGrpSpPr/>
          <p:nvPr/>
        </p:nvGrpSpPr>
        <p:grpSpPr>
          <a:xfrm>
            <a:off x="9265916" y="2182752"/>
            <a:ext cx="2021840" cy="1032858"/>
            <a:chOff x="9990435" y="2182752"/>
            <a:chExt cx="1131565" cy="1032858"/>
          </a:xfrm>
        </p:grpSpPr>
        <p:sp>
          <p:nvSpPr>
            <p:cNvPr id="11" name="Rectangle 10">
              <a:extLst>
                <a:ext uri="{FF2B5EF4-FFF2-40B4-BE49-F238E27FC236}">
                  <a16:creationId xmlns:a16="http://schemas.microsoft.com/office/drawing/2014/main" id="{B53EB4D7-C041-9B42-AB26-515AF27945C3}"/>
                </a:ext>
              </a:extLst>
            </p:cNvPr>
            <p:cNvSpPr/>
            <p:nvPr/>
          </p:nvSpPr>
          <p:spPr>
            <a:xfrm>
              <a:off x="9990435" y="2182752"/>
              <a:ext cx="1114506" cy="1027807"/>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48FC5D1-8D23-C721-1171-E1E271CE5ECF}"/>
                </a:ext>
              </a:extLst>
            </p:cNvPr>
            <p:cNvSpPr txBox="1"/>
            <p:nvPr/>
          </p:nvSpPr>
          <p:spPr>
            <a:xfrm>
              <a:off x="10007494" y="2261503"/>
              <a:ext cx="1114506" cy="954107"/>
            </a:xfrm>
            <a:prstGeom prst="rect">
              <a:avLst/>
            </a:prstGeom>
            <a:noFill/>
          </p:spPr>
          <p:txBody>
            <a:bodyPr wrap="square" rtlCol="0">
              <a:spAutoFit/>
            </a:bodyPr>
            <a:lstStyle/>
            <a:p>
              <a:r>
                <a:rPr lang="en-US" sz="1200" dirty="0"/>
                <a:t>AI Maturity          Productivity</a:t>
              </a:r>
            </a:p>
            <a:p>
              <a:pPr algn="ctr"/>
              <a:r>
                <a:rPr lang="en-US" sz="1500" dirty="0"/>
                <a:t>r = 0.74</a:t>
              </a:r>
            </a:p>
            <a:p>
              <a:pPr algn="ctr"/>
              <a:r>
                <a:rPr lang="en-US" sz="1500" dirty="0"/>
                <a:t>p &lt; 0.001</a:t>
              </a:r>
            </a:p>
            <a:p>
              <a:r>
                <a:rPr lang="en-US" sz="1200" dirty="0"/>
                <a:t>Strong Positive Correlation</a:t>
              </a:r>
              <a:endParaRPr lang="en-US" sz="1400" dirty="0"/>
            </a:p>
          </p:txBody>
        </p:sp>
      </p:grpSp>
      <p:sp>
        <p:nvSpPr>
          <p:cNvPr id="24" name="Arrow: Left-Right 23">
            <a:extLst>
              <a:ext uri="{FF2B5EF4-FFF2-40B4-BE49-F238E27FC236}">
                <a16:creationId xmlns:a16="http://schemas.microsoft.com/office/drawing/2014/main" id="{D875435A-82B7-505B-7107-0D84FE30BE74}"/>
              </a:ext>
            </a:extLst>
          </p:cNvPr>
          <p:cNvSpPr/>
          <p:nvPr/>
        </p:nvSpPr>
        <p:spPr>
          <a:xfrm>
            <a:off x="10175240" y="2387600"/>
            <a:ext cx="121920" cy="45719"/>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50376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C627F-769A-755A-7E96-96F4E60ACC7F}"/>
              </a:ext>
            </a:extLst>
          </p:cNvPr>
          <p:cNvSpPr>
            <a:spLocks noGrp="1"/>
          </p:cNvSpPr>
          <p:nvPr>
            <p:ph type="title"/>
          </p:nvPr>
        </p:nvSpPr>
        <p:spPr>
          <a:xfrm>
            <a:off x="0" y="21804"/>
            <a:ext cx="10515600" cy="1325563"/>
          </a:xfrm>
        </p:spPr>
        <p:txBody>
          <a:bodyPr/>
          <a:lstStyle/>
          <a:p>
            <a:r>
              <a:rPr lang="en-US" dirty="0"/>
              <a:t>Workforce Impact- </a:t>
            </a:r>
            <a:br>
              <a:rPr lang="en-US" dirty="0"/>
            </a:br>
            <a:r>
              <a:rPr lang="en-US" sz="2800" dirty="0"/>
              <a:t>Company Size and Workforce Transformation</a:t>
            </a:r>
            <a:endParaRPr lang="en-US" dirty="0"/>
          </a:p>
        </p:txBody>
      </p:sp>
      <p:sp>
        <p:nvSpPr>
          <p:cNvPr id="3" name="Content Placeholder 2">
            <a:extLst>
              <a:ext uri="{FF2B5EF4-FFF2-40B4-BE49-F238E27FC236}">
                <a16:creationId xmlns:a16="http://schemas.microsoft.com/office/drawing/2014/main" id="{A07C6C6A-C2B6-FE76-0B8C-D7784D45C408}"/>
              </a:ext>
            </a:extLst>
          </p:cNvPr>
          <p:cNvSpPr>
            <a:spLocks noGrp="1"/>
          </p:cNvSpPr>
          <p:nvPr>
            <p:ph idx="1"/>
          </p:nvPr>
        </p:nvSpPr>
        <p:spPr>
          <a:xfrm>
            <a:off x="952174" y="5897621"/>
            <a:ext cx="10515600" cy="828136"/>
          </a:xfrm>
        </p:spPr>
        <p:txBody>
          <a:bodyPr>
            <a:normAutofit fontScale="55000" lnSpcReduction="20000"/>
          </a:bodyPr>
          <a:lstStyle/>
          <a:p>
            <a:r>
              <a:rPr lang="en-US" dirty="0"/>
              <a:t>The left chart explains the correlation between company size and workforce transformation. The larger the company, the more change there is. The right chart expands on this by normalizing the data and displaying that the transformation happens at similar scales, despite larger companies appearing to be more impacted. The net change for each is slightly positive, with the majority of companies reporting high workforce reskilling. </a:t>
            </a:r>
          </a:p>
        </p:txBody>
      </p:sp>
      <p:pic>
        <p:nvPicPr>
          <p:cNvPr id="5" name="Picture 4">
            <a:extLst>
              <a:ext uri="{FF2B5EF4-FFF2-40B4-BE49-F238E27FC236}">
                <a16:creationId xmlns:a16="http://schemas.microsoft.com/office/drawing/2014/main" id="{16D0A72B-13D3-A10A-CAAD-75A1AD0A4F6C}"/>
              </a:ext>
            </a:extLst>
          </p:cNvPr>
          <p:cNvPicPr>
            <a:picLocks noChangeAspect="1"/>
          </p:cNvPicPr>
          <p:nvPr/>
        </p:nvPicPr>
        <p:blipFill>
          <a:blip r:embed="rId2"/>
          <a:stretch>
            <a:fillRect/>
          </a:stretch>
        </p:blipFill>
        <p:spPr>
          <a:xfrm>
            <a:off x="0" y="1316941"/>
            <a:ext cx="12192000" cy="4560045"/>
          </a:xfrm>
          <a:prstGeom prst="rect">
            <a:avLst/>
          </a:prstGeom>
        </p:spPr>
      </p:pic>
      <p:pic>
        <p:nvPicPr>
          <p:cNvPr id="7" name="Picture 6">
            <a:extLst>
              <a:ext uri="{FF2B5EF4-FFF2-40B4-BE49-F238E27FC236}">
                <a16:creationId xmlns:a16="http://schemas.microsoft.com/office/drawing/2014/main" id="{BF9A1AC2-4BF2-79A5-6E18-AE2BD1C9DA72}"/>
              </a:ext>
            </a:extLst>
          </p:cNvPr>
          <p:cNvPicPr>
            <a:picLocks noChangeAspect="1"/>
          </p:cNvPicPr>
          <p:nvPr/>
        </p:nvPicPr>
        <p:blipFill>
          <a:blip r:embed="rId3"/>
          <a:stretch>
            <a:fillRect/>
          </a:stretch>
        </p:blipFill>
        <p:spPr>
          <a:xfrm>
            <a:off x="-3093873" y="2989577"/>
            <a:ext cx="3529890" cy="2908044"/>
          </a:xfrm>
          <a:prstGeom prst="rect">
            <a:avLst/>
          </a:prstGeom>
        </p:spPr>
      </p:pic>
    </p:spTree>
    <p:extLst>
      <p:ext uri="{BB962C8B-B14F-4D97-AF65-F5344CB8AC3E}">
        <p14:creationId xmlns:p14="http://schemas.microsoft.com/office/powerpoint/2010/main" val="252665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D5854-B4D0-4DD5-8A4A-F946AF856786}"/>
              </a:ext>
            </a:extLst>
          </p:cNvPr>
          <p:cNvSpPr>
            <a:spLocks noGrp="1"/>
          </p:cNvSpPr>
          <p:nvPr>
            <p:ph type="title"/>
          </p:nvPr>
        </p:nvSpPr>
        <p:spPr/>
        <p:txBody>
          <a:bodyPr/>
          <a:lstStyle/>
          <a:p>
            <a:r>
              <a:rPr lang="en-US" dirty="0"/>
              <a:t>Recommendation and Way Forward</a:t>
            </a:r>
          </a:p>
        </p:txBody>
      </p:sp>
      <p:sp>
        <p:nvSpPr>
          <p:cNvPr id="3" name="Content Placeholder 2">
            <a:extLst>
              <a:ext uri="{FF2B5EF4-FFF2-40B4-BE49-F238E27FC236}">
                <a16:creationId xmlns:a16="http://schemas.microsoft.com/office/drawing/2014/main" id="{EBF325F0-63EA-4B60-67CF-5972F3A46B02}"/>
              </a:ext>
            </a:extLst>
          </p:cNvPr>
          <p:cNvSpPr>
            <a:spLocks noGrp="1"/>
          </p:cNvSpPr>
          <p:nvPr>
            <p:ph idx="1"/>
          </p:nvPr>
        </p:nvSpPr>
        <p:spPr/>
        <p:txBody>
          <a:bodyPr/>
          <a:lstStyle/>
          <a:p>
            <a:r>
              <a:rPr lang="en-US" dirty="0"/>
              <a:t>AI is super rad, people should take a minute to learn about it</a:t>
            </a:r>
          </a:p>
        </p:txBody>
      </p:sp>
    </p:spTree>
    <p:extLst>
      <p:ext uri="{BB962C8B-B14F-4D97-AF65-F5344CB8AC3E}">
        <p14:creationId xmlns:p14="http://schemas.microsoft.com/office/powerpoint/2010/main" val="2406880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4AF51-9155-2367-71DB-28709DBB1D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891E60-D219-B860-6ED5-E0A4308602A7}"/>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17C5E115-2D3F-7102-FB24-551ED6B6FE7E}"/>
              </a:ext>
            </a:extLst>
          </p:cNvPr>
          <p:cNvSpPr>
            <a:spLocks noGrp="1"/>
          </p:cNvSpPr>
          <p:nvPr>
            <p:ph idx="1"/>
          </p:nvPr>
        </p:nvSpPr>
        <p:spPr/>
        <p:txBody>
          <a:bodyPr/>
          <a:lstStyle/>
          <a:p>
            <a:r>
              <a:rPr lang="en-US" dirty="0"/>
              <a:t>Study Summary</a:t>
            </a:r>
          </a:p>
          <a:p>
            <a:r>
              <a:rPr lang="en-US" dirty="0"/>
              <a:t>AI Adoption Data Distribution Summary</a:t>
            </a:r>
          </a:p>
          <a:p>
            <a:r>
              <a:rPr lang="en-US" dirty="0"/>
              <a:t>Results</a:t>
            </a:r>
          </a:p>
          <a:p>
            <a:endParaRPr lang="en-US" dirty="0"/>
          </a:p>
          <a:p>
            <a:endParaRPr lang="en-US" dirty="0"/>
          </a:p>
        </p:txBody>
      </p:sp>
    </p:spTree>
    <p:extLst>
      <p:ext uri="{BB962C8B-B14F-4D97-AF65-F5344CB8AC3E}">
        <p14:creationId xmlns:p14="http://schemas.microsoft.com/office/powerpoint/2010/main" val="38469431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4541</TotalTime>
  <Words>832</Words>
  <Application>Microsoft Office PowerPoint</Application>
  <PresentationFormat>Widescreen</PresentationFormat>
  <Paragraphs>71</Paragraphs>
  <Slides>8</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Calibri</vt:lpstr>
      <vt:lpstr>Office Theme</vt:lpstr>
      <vt:lpstr>Global AI Adoption &amp; Workforce Impact Analysis </vt:lpstr>
      <vt:lpstr>Contents</vt:lpstr>
      <vt:lpstr>Study Overview:  Measuring AI Adoption and Organizational Impact</vt:lpstr>
      <vt:lpstr>AI Adoption Landscape: Variation Across Regions and Industries</vt:lpstr>
      <vt:lpstr>AI Maturity &amp; Business Outcomes</vt:lpstr>
      <vt:lpstr>Workforce Impact-  Company Size and Workforce Transformation</vt:lpstr>
      <vt:lpstr>Recommendation and Way Forward</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Patrick Shockley</dc:creator>
  <cp:lastModifiedBy>Patrick Shockley</cp:lastModifiedBy>
  <cp:revision>6</cp:revision>
  <dcterms:created xsi:type="dcterms:W3CDTF">2026-06-05T14:53:11Z</dcterms:created>
  <dcterms:modified xsi:type="dcterms:W3CDTF">2026-06-08T18:34:42Z</dcterms:modified>
</cp:coreProperties>
</file>